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1565c0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0bcd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6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7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8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9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0.574</c:v>
                </c:pt>
                <c:pt idx="1">
                  <c:v>0.582</c:v>
                </c:pt>
                <c:pt idx="2">
                  <c:v>0.662</c:v>
                </c:pt>
                <c:pt idx="3">
                  <c:v>0.582</c:v>
                </c:pt>
                <c:pt idx="4">
                  <c:v>0.568</c:v>
                </c:pt>
                <c:pt idx="5">
                  <c:v>0.582</c:v>
                </c:pt>
                <c:pt idx="6">
                  <c:v>0.582</c:v>
                </c:pt>
                <c:pt idx="7">
                  <c:v>0.582</c:v>
                </c:pt>
                <c:pt idx="8">
                  <c:v>0.582</c:v>
                </c:pt>
                <c:pt idx="9">
                  <c:v>0.595</c:v>
                </c:pt>
              </c:numCache>
            </c:numRef>
          </c:val>
        </c:ser>
        <c:gapWidth val="150"/>
        <c:overlap val="0"/>
        <c:axId val="72358344"/>
        <c:axId val="45883397"/>
      </c:barChart>
      <c:catAx>
        <c:axId val="723583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45883397"/>
        <c:crosses val="autoZero"/>
        <c:auto val="1"/>
        <c:lblAlgn val="ctr"/>
        <c:lblOffset val="100"/>
        <c:noMultiLvlLbl val="0"/>
      </c:catAx>
      <c:valAx>
        <c:axId val="45883397"/>
        <c:scaling>
          <c:orientation val="minMax"/>
          <c:max val="0.72"/>
          <c:min val="0.5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7235834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565c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0.62</c:v>
                </c:pt>
                <c:pt idx="1">
                  <c:v>0.629</c:v>
                </c:pt>
                <c:pt idx="2">
                  <c:v>0.706</c:v>
                </c:pt>
                <c:pt idx="3">
                  <c:v>0.629</c:v>
                </c:pt>
                <c:pt idx="4">
                  <c:v>0.63</c:v>
                </c:pt>
                <c:pt idx="5">
                  <c:v>0.629</c:v>
                </c:pt>
                <c:pt idx="6">
                  <c:v>0.629</c:v>
                </c:pt>
                <c:pt idx="7">
                  <c:v>0.629</c:v>
                </c:pt>
                <c:pt idx="8">
                  <c:v>0.629</c:v>
                </c:pt>
                <c:pt idx="9">
                  <c:v>0.635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0bcd4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0"/>
                <c:pt idx="0">
                  <c:v>0.547</c:v>
                </c:pt>
                <c:pt idx="1">
                  <c:v>0.548</c:v>
                </c:pt>
                <c:pt idx="2">
                  <c:v>0.625</c:v>
                </c:pt>
                <c:pt idx="3">
                  <c:v>0.548</c:v>
                </c:pt>
                <c:pt idx="4">
                  <c:v>0.521</c:v>
                </c:pt>
                <c:pt idx="5">
                  <c:v>0.548</c:v>
                </c:pt>
                <c:pt idx="6">
                  <c:v>0.548</c:v>
                </c:pt>
                <c:pt idx="7">
                  <c:v>0.548</c:v>
                </c:pt>
                <c:pt idx="8">
                  <c:v>0.548</c:v>
                </c:pt>
                <c:pt idx="9">
                  <c:v>0.56</c:v>
                </c:pt>
              </c:numCache>
            </c:numRef>
          </c:val>
        </c:ser>
        <c:gapWidth val="150"/>
        <c:overlap val="0"/>
        <c:axId val="61675113"/>
        <c:axId val="28985644"/>
      </c:barChart>
      <c:catAx>
        <c:axId val="6167511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28985644"/>
        <c:crosses val="autoZero"/>
        <c:auto val="1"/>
        <c:lblAlgn val="ctr"/>
        <c:lblOffset val="100"/>
        <c:noMultiLvlLbl val="0"/>
      </c:catAx>
      <c:valAx>
        <c:axId val="28985644"/>
        <c:scaling>
          <c:orientation val="minMax"/>
          <c:max val="0.74"/>
          <c:min val="0.48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6167511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mAP@0.5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02c39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02c39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1565c0"/>
              </a:solidFill>
              <a:ln w="0">
                <a:noFill/>
              </a:ln>
            </c:spPr>
          </c:dPt>
          <c:dLbls>
            <c:dLbl>
              <c:idx val="0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5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6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7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8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9"/>
              <c:txPr>
                <a:bodyPr wrap="square"/>
                <a:lstStyle/>
                <a:p>
                  <a:pPr>
                    <a:defRPr b="0" sz="12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0.833</c:v>
                </c:pt>
                <c:pt idx="1">
                  <c:v>0.787</c:v>
                </c:pt>
                <c:pt idx="2">
                  <c:v>0.826</c:v>
                </c:pt>
                <c:pt idx="3">
                  <c:v>0.787</c:v>
                </c:pt>
                <c:pt idx="4">
                  <c:v>0.82</c:v>
                </c:pt>
                <c:pt idx="5">
                  <c:v>0.787</c:v>
                </c:pt>
                <c:pt idx="6">
                  <c:v>0.787</c:v>
                </c:pt>
                <c:pt idx="7">
                  <c:v>0.787</c:v>
                </c:pt>
                <c:pt idx="8">
                  <c:v>0.787</c:v>
                </c:pt>
                <c:pt idx="9">
                  <c:v>0.8</c:v>
                </c:pt>
              </c:numCache>
            </c:numRef>
          </c:val>
        </c:ser>
        <c:gapWidth val="150"/>
        <c:overlap val="0"/>
        <c:axId val="19548201"/>
        <c:axId val="29638288"/>
      </c:barChart>
      <c:catAx>
        <c:axId val="1954820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29638288"/>
        <c:crosses val="autoZero"/>
        <c:auto val="1"/>
        <c:lblAlgn val="ctr"/>
        <c:lblOffset val="100"/>
        <c:noMultiLvlLbl val="0"/>
      </c:catAx>
      <c:valAx>
        <c:axId val="29638288"/>
        <c:scaling>
          <c:orientation val="minMax"/>
          <c:max val="0.86"/>
          <c:min val="0.75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1954820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MH16</c:v>
                </c:pt>
              </c:strCache>
            </c:strRef>
          </c:tx>
          <c:spPr>
            <a:solidFill>
              <a:srgbClr val="1565c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0.574</c:v>
                </c:pt>
                <c:pt idx="1">
                  <c:v>0.582</c:v>
                </c:pt>
                <c:pt idx="2">
                  <c:v>0.662</c:v>
                </c:pt>
                <c:pt idx="3">
                  <c:v>0.582</c:v>
                </c:pt>
                <c:pt idx="4">
                  <c:v>0.568</c:v>
                </c:pt>
                <c:pt idx="5">
                  <c:v>0.582</c:v>
                </c:pt>
                <c:pt idx="6">
                  <c:v>0.582</c:v>
                </c:pt>
                <c:pt idx="7">
                  <c:v>0.582</c:v>
                </c:pt>
                <c:pt idx="8">
                  <c:v>0.582</c:v>
                </c:pt>
                <c:pt idx="9">
                  <c:v>0.595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Cotton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0"/>
                <c:pt idx="0">
                  <c:v>0.833</c:v>
                </c:pt>
                <c:pt idx="1">
                  <c:v>0.787</c:v>
                </c:pt>
                <c:pt idx="2">
                  <c:v>0.826</c:v>
                </c:pt>
                <c:pt idx="3">
                  <c:v>0.787</c:v>
                </c:pt>
                <c:pt idx="4">
                  <c:v>0.82</c:v>
                </c:pt>
                <c:pt idx="5">
                  <c:v>0.787</c:v>
                </c:pt>
                <c:pt idx="6">
                  <c:v>0.787</c:v>
                </c:pt>
                <c:pt idx="7">
                  <c:v>0.787</c:v>
                </c:pt>
                <c:pt idx="8">
                  <c:v>0.787</c:v>
                </c:pt>
                <c:pt idx="9">
                  <c:v>0.8</c:v>
                </c:pt>
              </c:numCache>
            </c:numRef>
          </c:val>
        </c:ser>
        <c:gapWidth val="150"/>
        <c:overlap val="0"/>
        <c:axId val="88508391"/>
        <c:axId val="45780313"/>
      </c:barChart>
      <c:catAx>
        <c:axId val="8850839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45780313"/>
        <c:crosses val="autoZero"/>
        <c:auto val="1"/>
        <c:lblAlgn val="ctr"/>
        <c:lblOffset val="100"/>
        <c:noMultiLvlLbl val="0"/>
      </c:catAx>
      <c:valAx>
        <c:axId val="45780313"/>
        <c:scaling>
          <c:orientation val="minMax"/>
          <c:max val="0.92"/>
          <c:min val="0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88508391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MH16 mAP@0.5:0.95</c:v>
                </c:pt>
              </c:strCache>
            </c:strRef>
          </c:tx>
          <c:spPr>
            <a:solidFill>
              <a:srgbClr val="1565c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0.23</c:v>
                </c:pt>
                <c:pt idx="1">
                  <c:v>0.233</c:v>
                </c:pt>
                <c:pt idx="2">
                  <c:v>0.286</c:v>
                </c:pt>
                <c:pt idx="3">
                  <c:v>0.233</c:v>
                </c:pt>
                <c:pt idx="4">
                  <c:v>0.233</c:v>
                </c:pt>
                <c:pt idx="5">
                  <c:v>0.233</c:v>
                </c:pt>
                <c:pt idx="6">
                  <c:v>0.233</c:v>
                </c:pt>
                <c:pt idx="7">
                  <c:v>0.233</c:v>
                </c:pt>
                <c:pt idx="8">
                  <c:v>0.233</c:v>
                </c:pt>
                <c:pt idx="9">
                  <c:v>0.245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Cotton mAP@0.5:0.95</c:v>
                </c:pt>
              </c:strCache>
            </c:strRef>
          </c:tx>
          <c:spPr>
            <a:solidFill>
              <a:srgbClr val="02c39a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0"/>
                <c:pt idx="0">
                  <c:v>0.751</c:v>
                </c:pt>
                <c:pt idx="1">
                  <c:v>0.712</c:v>
                </c:pt>
                <c:pt idx="2">
                  <c:v>0.716</c:v>
                </c:pt>
                <c:pt idx="3">
                  <c:v>0.712</c:v>
                </c:pt>
                <c:pt idx="4">
                  <c:v>0.746</c:v>
                </c:pt>
                <c:pt idx="5">
                  <c:v>0.725</c:v>
                </c:pt>
                <c:pt idx="6">
                  <c:v>0.712</c:v>
                </c:pt>
                <c:pt idx="7">
                  <c:v>0.712</c:v>
                </c:pt>
                <c:pt idx="8">
                  <c:v>0.712</c:v>
                </c:pt>
                <c:pt idx="9">
                  <c:v>0.725</c:v>
                </c:pt>
              </c:numCache>
            </c:numRef>
          </c:val>
        </c:ser>
        <c:gapWidth val="150"/>
        <c:overlap val="0"/>
        <c:axId val="15543816"/>
        <c:axId val="84893170"/>
      </c:barChart>
      <c:catAx>
        <c:axId val="155438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84893170"/>
        <c:crosses val="autoZero"/>
        <c:auto val="1"/>
        <c:lblAlgn val="ctr"/>
        <c:lblOffset val="100"/>
        <c:noMultiLvlLbl val="0"/>
      </c:catAx>
      <c:valAx>
        <c:axId val="84893170"/>
        <c:scaling>
          <c:orientation val="minMax"/>
          <c:max val="0.82"/>
          <c:min val="0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1554381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MH16 Inference (ms)</c:v>
                </c:pt>
              </c:strCache>
            </c:strRef>
          </c:tx>
          <c:spPr>
            <a:solidFill>
              <a:srgbClr val="e53935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4.9</c:v>
                </c:pt>
                <c:pt idx="1">
                  <c:v>4</c:v>
                </c:pt>
                <c:pt idx="2">
                  <c:v>49.5</c:v>
                </c:pt>
                <c:pt idx="3">
                  <c:v>4.2</c:v>
                </c:pt>
                <c:pt idx="4">
                  <c:v>11.2</c:v>
                </c:pt>
                <c:pt idx="5">
                  <c:v>3.9</c:v>
                </c:pt>
                <c:pt idx="6">
                  <c:v>4.1</c:v>
                </c:pt>
                <c:pt idx="7">
                  <c:v>4</c:v>
                </c:pt>
                <c:pt idx="8">
                  <c:v>3.9</c:v>
                </c:pt>
                <c:pt idx="9">
                  <c:v>5.5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Cotton Inference (ms)</c:v>
                </c:pt>
              </c:strCache>
            </c:strRef>
          </c:tx>
          <c:spPr>
            <a:solidFill>
              <a:srgbClr val="ff8f00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0"/>
                <c:pt idx="0">
                  <c:v>v11N</c:v>
                </c:pt>
                <c:pt idx="1">
                  <c:v>v8N</c:v>
                </c:pt>
                <c:pt idx="2">
                  <c:v>RT-D</c:v>
                </c:pt>
                <c:pt idx="3">
                  <c:v>MbSSD</c:v>
                </c:pt>
                <c:pt idx="4">
                  <c:v>FRCNN</c:v>
                </c:pt>
                <c:pt idx="5">
                  <c:v>NanoDet</c:v>
                </c:pt>
                <c:pt idx="6">
                  <c:v>EffD0</c:v>
                </c:pt>
                <c:pt idx="7">
                  <c:v>PP-YE</c:v>
                </c:pt>
                <c:pt idx="8">
                  <c:v>EdgeY</c:v>
                </c:pt>
                <c:pt idx="9">
                  <c:v>v7T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0"/>
                <c:pt idx="0">
                  <c:v>4.3</c:v>
                </c:pt>
                <c:pt idx="1">
                  <c:v>4</c:v>
                </c:pt>
                <c:pt idx="2">
                  <c:v>49.2</c:v>
                </c:pt>
                <c:pt idx="3">
                  <c:v>4.2</c:v>
                </c:pt>
                <c:pt idx="4">
                  <c:v>11.3</c:v>
                </c:pt>
                <c:pt idx="5">
                  <c:v>4.1</c:v>
                </c:pt>
                <c:pt idx="6">
                  <c:v>3.9</c:v>
                </c:pt>
                <c:pt idx="7">
                  <c:v>3.8</c:v>
                </c:pt>
                <c:pt idx="8">
                  <c:v>4</c:v>
                </c:pt>
                <c:pt idx="9">
                  <c:v>5.5</c:v>
                </c:pt>
              </c:numCache>
            </c:numRef>
          </c:val>
        </c:ser>
        <c:gapWidth val="150"/>
        <c:overlap val="0"/>
        <c:axId val="13295088"/>
        <c:axId val="42918400"/>
      </c:barChart>
      <c:catAx>
        <c:axId val="132950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42918400"/>
        <c:crosses val="autoZero"/>
        <c:auto val="1"/>
        <c:lblAlgn val="ctr"/>
        <c:lblOffset val="100"/>
        <c:noMultiLvlLbl val="0"/>
      </c:catAx>
      <c:valAx>
        <c:axId val="42918400"/>
        <c:scaling>
          <c:orientation val="minMax"/>
          <c:max val="55"/>
          <c:min val="0"/>
        </c:scaling>
        <c:delete val="0"/>
        <c:axPos val="l"/>
        <c:majorGridlines>
          <c:spPr>
            <a:ln w="6480">
              <a:solidFill>
                <a:srgbClr val="e0e0e0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546e7a"/>
                </a:solidFill>
                <a:latin typeface="Arial"/>
              </a:defRPr>
            </a:pPr>
          </a:p>
        </c:txPr>
        <c:crossAx val="1329508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10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move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notes </a:t>
            </a: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3854F66-D943-49D7-8E51-3BD1552FC201}" type="slidenum"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DD1D64-2A5D-4E2A-8907-38DD4209B9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AA32EEA-D42E-419C-8E19-F725F7BFA15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42AFA4-6724-46F6-BEB9-4101C5A571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67A2C1-088C-45AB-8599-455AFC6657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4951BC-02BC-4697-BAC4-3EB2FA9591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54E92B-1DBB-4215-B868-722C1F6616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DD285D-12A8-4812-8709-869CE6A19F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F26840-61B5-45A9-9E2C-FBD58DE472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09D3F6-2A62-44E0-80ED-08C3DAFE65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217C2-208A-42BF-9B8B-1BAE1392BD0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AE0615-7B51-4074-9F84-E4F5D64AF13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E667CF-CC3E-4542-B16D-905216BC94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A7E4A0-85F2-4D99-A3CF-6C004B9C31B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9A7D7F-251E-4539-B2C6-1C93497E0E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FE2872-E2D0-4F19-9624-4D133668E1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0F30E4-83E2-494F-A3C0-6C8FA198A1C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A80EA3-C6EA-48FA-ABEB-2188BB53522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03D481-4DA0-45F9-883D-AB2CA98EB8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the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text 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form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</a:rPr>
              <a:t>at</a:t>
            </a:r>
            <a:endParaRPr b="0" lang="en-IN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530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6858000" y="0"/>
            <a:ext cx="2285640" cy="514332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4389120"/>
            <a:ext cx="9143640" cy="754200"/>
          </a:xfrm>
          <a:prstGeom prst="rect">
            <a:avLst/>
          </a:prstGeom>
          <a:solidFill>
            <a:srgbClr val="061020"/>
          </a:solidFill>
          <a:ln w="12700">
            <a:solidFill>
              <a:srgbClr val="0610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4389120"/>
            <a:ext cx="9143640" cy="45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640080"/>
            <a:ext cx="6583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  <a:ea typeface="Calibri"/>
              </a:rPr>
              <a:t>Object Detection</a:t>
            </a:r>
            <a:endParaRPr b="0" lang="en-IN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1371600"/>
            <a:ext cx="6583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pc="-1" strike="noStrike">
                <a:solidFill>
                  <a:srgbClr val="90caf9"/>
                </a:solidFill>
                <a:latin typeface="Calibri"/>
                <a:ea typeface="Calibri"/>
              </a:rPr>
              <a:t>Model Performance Comparison</a:t>
            </a:r>
            <a:endParaRPr b="0" lang="en-IN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457200" y="2103120"/>
            <a:ext cx="109692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457200" y="23317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cd4"/>
                </a:solidFill>
                <a:latin typeface="Calibri"/>
                <a:ea typeface="Calibri"/>
              </a:rPr>
              <a:t>Datasets:</a:t>
            </a:r>
            <a:r>
              <a:rPr b="0" lang="en-US" sz="1400" spc="-1" strike="noStrike">
                <a:solidFill>
                  <a:srgbClr val="cfd8dc"/>
                </a:solidFill>
                <a:latin typeface="Calibri"/>
                <a:ea typeface="Calibri"/>
              </a:rPr>
              <a:t>  MH16  ·  Cotton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457200" y="272484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cd4"/>
                </a:solidFill>
                <a:latin typeface="Calibri"/>
                <a:ea typeface="Calibri"/>
              </a:rPr>
              <a:t>Training:</a:t>
            </a:r>
            <a:r>
              <a:rPr b="0" lang="en-US" sz="1400" spc="-1" strike="noStrike">
                <a:solidFill>
                  <a:srgbClr val="cfd8dc"/>
                </a:solidFill>
                <a:latin typeface="Calibri"/>
                <a:ea typeface="Calibri"/>
              </a:rPr>
              <a:t>  25 Epochs  |  Best checkpoint evaluation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457200" y="312732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cd4"/>
                </a:solidFill>
                <a:latin typeface="Calibri"/>
                <a:ea typeface="Calibri"/>
              </a:rPr>
              <a:t>Models:</a:t>
            </a:r>
            <a:r>
              <a:rPr b="0" lang="en-US" sz="1400" spc="-1" strike="noStrike">
                <a:solidFill>
                  <a:srgbClr val="cfd8dc"/>
                </a:solidFill>
                <a:latin typeface="Calibri"/>
                <a:ea typeface="Calibri"/>
              </a:rPr>
              <a:t>  10 Lightweight Architectures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457200" y="3520440"/>
            <a:ext cx="6400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bcd4"/>
                </a:solidFill>
                <a:latin typeface="Calibri"/>
                <a:ea typeface="Calibri"/>
              </a:rPr>
              <a:t>Metrics:</a:t>
            </a:r>
            <a:r>
              <a:rPr b="0" lang="en-US" sz="1400" spc="-1" strike="noStrike">
                <a:solidFill>
                  <a:srgbClr val="cfd8dc"/>
                </a:solidFill>
                <a:latin typeface="Calibri"/>
                <a:ea typeface="Calibri"/>
              </a:rPr>
              <a:t>  Precision · Recall · mAP@0.5 · mAP@0.5:0.95 · Inference Speed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457200" y="44622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Q1 2024 Research Benchmark</a:t>
            </a:r>
            <a:endParaRPr b="0" lang="en-IN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Presentation Outline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What we cover in this study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2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320040" y="123444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320040" y="1234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01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9"/>
          <p:cNvSpPr/>
          <p:nvPr/>
        </p:nvSpPr>
        <p:spPr>
          <a:xfrm>
            <a:off x="850320" y="12434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Research Motivation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850320" y="14630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Why lightweight detection matters for edge deployment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320040" y="199332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320040" y="199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02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850320" y="20026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Datasets Overview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850320" y="222192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MH16 and Cotton dataset characteristics &amp; challenges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320040" y="275220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320040" y="2752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03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850320" y="276156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Model Architectures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850320" y="2980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Overview of all 10 evaluated detection models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320040" y="351144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320040" y="3511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04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850320" y="35204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Training Setup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850320" y="37400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25-epoch protocol, hardware, and evaluation methodology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320040" y="427032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320040" y="4270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05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850320" y="427932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MH16 Results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850320" y="449892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Detailed performance analysis on MH16 dataset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7"/>
          <p:cNvSpPr/>
          <p:nvPr/>
        </p:nvSpPr>
        <p:spPr>
          <a:xfrm>
            <a:off x="4754880" y="123444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4754880" y="1234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9"/>
          <p:cNvSpPr/>
          <p:nvPr/>
        </p:nvSpPr>
        <p:spPr>
          <a:xfrm>
            <a:off x="5285160" y="12434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Cotton Results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5285160" y="14630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Detailed performance analysis on Cotton dataset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4754880" y="199332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32"/>
          <p:cNvSpPr/>
          <p:nvPr/>
        </p:nvSpPr>
        <p:spPr>
          <a:xfrm>
            <a:off x="4754880" y="1993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07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33"/>
          <p:cNvSpPr/>
          <p:nvPr/>
        </p:nvSpPr>
        <p:spPr>
          <a:xfrm>
            <a:off x="5285160" y="200268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Cross-Dataset Comparison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34"/>
          <p:cNvSpPr/>
          <p:nvPr/>
        </p:nvSpPr>
        <p:spPr>
          <a:xfrm>
            <a:off x="5285160" y="222192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How models generalise across domains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5"/>
          <p:cNvSpPr/>
          <p:nvPr/>
        </p:nvSpPr>
        <p:spPr>
          <a:xfrm>
            <a:off x="4754880" y="275220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6"/>
          <p:cNvSpPr/>
          <p:nvPr/>
        </p:nvSpPr>
        <p:spPr>
          <a:xfrm>
            <a:off x="4754880" y="27522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08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7"/>
          <p:cNvSpPr/>
          <p:nvPr/>
        </p:nvSpPr>
        <p:spPr>
          <a:xfrm>
            <a:off x="5285160" y="276156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Speed vs Accuracy Trade-off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5285160" y="298080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Inference time analysis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9"/>
          <p:cNvSpPr/>
          <p:nvPr/>
        </p:nvSpPr>
        <p:spPr>
          <a:xfrm>
            <a:off x="4754880" y="3511440"/>
            <a:ext cx="456840" cy="456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40"/>
          <p:cNvSpPr/>
          <p:nvPr/>
        </p:nvSpPr>
        <p:spPr>
          <a:xfrm>
            <a:off x="4754880" y="35114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09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1"/>
          <p:cNvSpPr/>
          <p:nvPr/>
        </p:nvSpPr>
        <p:spPr>
          <a:xfrm>
            <a:off x="5285160" y="3520440"/>
            <a:ext cx="3565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Key Findings &amp; Recommendations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2"/>
          <p:cNvSpPr/>
          <p:nvPr/>
        </p:nvSpPr>
        <p:spPr>
          <a:xfrm>
            <a:off x="5285160" y="3740040"/>
            <a:ext cx="3565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Best models per use-case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Research Motivation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Why benchmark lightweight object detectors?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3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320040" y="123444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320040" y="1234440"/>
            <a:ext cx="63720" cy="1554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521280" y="13989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🌾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Agricultural Automation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521280" y="176472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Precision agriculture demands real-time crop and pest detection on resource-constrained edge devices deployed in the field.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1"/>
          <p:cNvSpPr/>
          <p:nvPr/>
        </p:nvSpPr>
        <p:spPr>
          <a:xfrm>
            <a:off x="4800600" y="123444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4800600" y="1234440"/>
            <a:ext cx="63720" cy="1554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5001840" y="13989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⚡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Edge Deployment Constraints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5001840" y="176472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Embedded systems (Jetson Nano, Raspberry Pi) have limited compute — models must be fast AND accurate.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15"/>
          <p:cNvSpPr/>
          <p:nvPr/>
        </p:nvSpPr>
        <p:spPr>
          <a:xfrm>
            <a:off x="320040" y="301752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320040" y="3017520"/>
            <a:ext cx="63720" cy="1554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521280" y="31820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📊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Benchmark Gap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521280" y="354780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No direct comparison existed across 10 modern lightweight architectures on the same training protocol and datasets.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4800600" y="301752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0"/>
          <p:cNvSpPr/>
          <p:nvPr/>
        </p:nvSpPr>
        <p:spPr>
          <a:xfrm>
            <a:off x="4800600" y="3017520"/>
            <a:ext cx="63720" cy="15541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5001840" y="318204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🎯  </a:t>
            </a:r>
            <a:r>
              <a:rPr b="1" lang="en-US" sz="1400" spc="-1" strike="noStrike">
                <a:solidFill>
                  <a:srgbClr val="0d1b2a"/>
                </a:solidFill>
                <a:latin typeface="Calibri"/>
                <a:ea typeface="Calibri"/>
              </a:rPr>
              <a:t>Practical Goal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2"/>
          <p:cNvSpPr/>
          <p:nvPr/>
        </p:nvSpPr>
        <p:spPr>
          <a:xfrm>
            <a:off x="5001840" y="3547800"/>
            <a:ext cx="3748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Identify the best model per use-case: highest accuracy, fastest inference, and best accuracy-speed trade-off.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Datasets Overview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Two agricultural object detection benchmarks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4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320040" y="1234440"/>
            <a:ext cx="4023000" cy="356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320040" y="1234440"/>
            <a:ext cx="63720" cy="356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9"/>
          <p:cNvSpPr/>
          <p:nvPr/>
        </p:nvSpPr>
        <p:spPr>
          <a:xfrm>
            <a:off x="521280" y="14173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📂  </a:t>
            </a: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MH16 Dataset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0"/>
          <p:cNvSpPr/>
          <p:nvPr/>
        </p:nvSpPr>
        <p:spPr>
          <a:xfrm>
            <a:off x="521280" y="187452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Domain: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1572840" y="18745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Multi-class agricultural pest / crop detection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521280" y="235008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Classes: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3"/>
          <p:cNvSpPr/>
          <p:nvPr/>
        </p:nvSpPr>
        <p:spPr>
          <a:xfrm>
            <a:off x="1572840" y="235008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16 object categories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4"/>
          <p:cNvSpPr/>
          <p:nvPr/>
        </p:nvSpPr>
        <p:spPr>
          <a:xfrm>
            <a:off x="521280" y="28256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Challenge: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1572840" y="28256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High inter-class similarity, small objects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521280" y="33008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Split: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7"/>
          <p:cNvSpPr/>
          <p:nvPr/>
        </p:nvSpPr>
        <p:spPr>
          <a:xfrm>
            <a:off x="1572840" y="33008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Train / Validation (standard split)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18"/>
          <p:cNvSpPr/>
          <p:nvPr/>
        </p:nvSpPr>
        <p:spPr>
          <a:xfrm>
            <a:off x="521280" y="37764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Difficulty: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9"/>
          <p:cNvSpPr/>
          <p:nvPr/>
        </p:nvSpPr>
        <p:spPr>
          <a:xfrm>
            <a:off x="1572840" y="37764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High — models score mAP@0.5 ≈ 0.57–0.66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0"/>
          <p:cNvSpPr/>
          <p:nvPr/>
        </p:nvSpPr>
        <p:spPr>
          <a:xfrm>
            <a:off x="521280" y="425196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Best Model: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1"/>
          <p:cNvSpPr/>
          <p:nvPr/>
        </p:nvSpPr>
        <p:spPr>
          <a:xfrm>
            <a:off x="1572840" y="42519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RT-DETR-Lite (mAP@0.5 = 0.662)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2"/>
          <p:cNvSpPr/>
          <p:nvPr/>
        </p:nvSpPr>
        <p:spPr>
          <a:xfrm>
            <a:off x="4800600" y="1234440"/>
            <a:ext cx="4023000" cy="356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4800600" y="1234440"/>
            <a:ext cx="63720" cy="356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4"/>
          <p:cNvSpPr/>
          <p:nvPr/>
        </p:nvSpPr>
        <p:spPr>
          <a:xfrm>
            <a:off x="5001840" y="141732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📂  </a:t>
            </a:r>
            <a:r>
              <a:rPr b="1" lang="en-US" sz="1500" spc="-1" strike="noStrike">
                <a:solidFill>
                  <a:srgbClr val="0d1b2a"/>
                </a:solidFill>
                <a:latin typeface="Calibri"/>
                <a:ea typeface="Calibri"/>
              </a:rPr>
              <a:t>Cotton Dataset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25"/>
          <p:cNvSpPr/>
          <p:nvPr/>
        </p:nvSpPr>
        <p:spPr>
          <a:xfrm>
            <a:off x="5001840" y="187452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Domain: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26"/>
          <p:cNvSpPr/>
          <p:nvPr/>
        </p:nvSpPr>
        <p:spPr>
          <a:xfrm>
            <a:off x="6053400" y="187452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Cotton crop boll / plant detection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27"/>
          <p:cNvSpPr/>
          <p:nvPr/>
        </p:nvSpPr>
        <p:spPr>
          <a:xfrm>
            <a:off x="5001840" y="235008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Classes: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28"/>
          <p:cNvSpPr/>
          <p:nvPr/>
        </p:nvSpPr>
        <p:spPr>
          <a:xfrm>
            <a:off x="6053400" y="235008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Cotton plant structures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29"/>
          <p:cNvSpPr/>
          <p:nvPr/>
        </p:nvSpPr>
        <p:spPr>
          <a:xfrm>
            <a:off x="5001840" y="28256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Challenge: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30"/>
          <p:cNvSpPr/>
          <p:nvPr/>
        </p:nvSpPr>
        <p:spPr>
          <a:xfrm>
            <a:off x="6053400" y="28256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Texture similarity, dense canopy occlusion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31"/>
          <p:cNvSpPr/>
          <p:nvPr/>
        </p:nvSpPr>
        <p:spPr>
          <a:xfrm>
            <a:off x="5001840" y="330084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Split: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32"/>
          <p:cNvSpPr/>
          <p:nvPr/>
        </p:nvSpPr>
        <p:spPr>
          <a:xfrm>
            <a:off x="6053400" y="33008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Train / Validation (standard split)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33"/>
          <p:cNvSpPr/>
          <p:nvPr/>
        </p:nvSpPr>
        <p:spPr>
          <a:xfrm>
            <a:off x="5001840" y="377640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Difficulty: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4"/>
          <p:cNvSpPr/>
          <p:nvPr/>
        </p:nvSpPr>
        <p:spPr>
          <a:xfrm>
            <a:off x="6053400" y="377640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Moderate — models score mAP@0.5 ≈ 0.79–0.83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35"/>
          <p:cNvSpPr/>
          <p:nvPr/>
        </p:nvSpPr>
        <p:spPr>
          <a:xfrm>
            <a:off x="5001840" y="4251960"/>
            <a:ext cx="10512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Best Model: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36"/>
          <p:cNvSpPr/>
          <p:nvPr/>
        </p:nvSpPr>
        <p:spPr>
          <a:xfrm>
            <a:off x="6053400" y="425196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37474f"/>
                </a:solidFill>
                <a:latin typeface="Calibri"/>
                <a:ea typeface="Calibri"/>
              </a:rPr>
              <a:t>YOLOv11-Nano (mAP@0.5 = 0.833)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37"/>
          <p:cNvSpPr/>
          <p:nvPr/>
        </p:nvSpPr>
        <p:spPr>
          <a:xfrm>
            <a:off x="320040" y="4663440"/>
            <a:ext cx="8503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000" spc="-1" strike="noStrike">
                <a:solidFill>
                  <a:srgbClr val="f57f17"/>
                </a:solidFill>
                <a:latin typeface="Calibri"/>
                <a:ea typeface="Calibri"/>
              </a:rPr>
              <a:t>⚠️  </a:t>
            </a:r>
            <a:r>
              <a:rPr b="1" i="1" lang="en-US" sz="1000" spc="-1" strike="noStrike">
                <a:solidFill>
                  <a:srgbClr val="f57f17"/>
                </a:solidFill>
                <a:latin typeface="Calibri"/>
                <a:ea typeface="Calibri"/>
              </a:rPr>
              <a:t>Key Insight: Cotton dataset is ~30% easier than MH16 — all models score significantly higher across all metrics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Model Architectures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10 lightweight detectors evaluated in this study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5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7"/>
          <p:cNvSpPr/>
          <p:nvPr/>
        </p:nvSpPr>
        <p:spPr>
          <a:xfrm>
            <a:off x="320040" y="1188720"/>
            <a:ext cx="8503560" cy="347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8"/>
          <p:cNvSpPr/>
          <p:nvPr/>
        </p:nvSpPr>
        <p:spPr>
          <a:xfrm>
            <a:off x="393120" y="1243440"/>
            <a:ext cx="3196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#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713160" y="124344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Model Name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10"/>
          <p:cNvSpPr/>
          <p:nvPr/>
        </p:nvSpPr>
        <p:spPr>
          <a:xfrm>
            <a:off x="2816280" y="124344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Family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4096440" y="1243440"/>
            <a:ext cx="10054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Stage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2"/>
          <p:cNvSpPr/>
          <p:nvPr/>
        </p:nvSpPr>
        <p:spPr>
          <a:xfrm>
            <a:off x="5102280" y="1243440"/>
            <a:ext cx="34286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Description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3"/>
          <p:cNvSpPr/>
          <p:nvPr/>
        </p:nvSpPr>
        <p:spPr>
          <a:xfrm>
            <a:off x="320040" y="1536120"/>
            <a:ext cx="850356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4"/>
          <p:cNvSpPr/>
          <p:nvPr/>
        </p:nvSpPr>
        <p:spPr>
          <a:xfrm>
            <a:off x="393120" y="160920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713160" y="160920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YOLOv11-Nano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6"/>
          <p:cNvSpPr/>
          <p:nvPr/>
        </p:nvSpPr>
        <p:spPr>
          <a:xfrm>
            <a:off x="2816280" y="162756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2816280" y="16275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YOLO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4096440" y="160920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5102280" y="160920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Latest YOLO nano — tiny but mighty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320040" y="1883520"/>
            <a:ext cx="8503560" cy="347040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393120" y="195696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713160" y="19569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YOLOv8-Nano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2816280" y="197496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2816280" y="197496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YOLO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4096440" y="195696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5102280" y="19569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Predecessor nano variant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7"/>
          <p:cNvSpPr/>
          <p:nvPr/>
        </p:nvSpPr>
        <p:spPr>
          <a:xfrm>
            <a:off x="320040" y="2231280"/>
            <a:ext cx="850356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28"/>
          <p:cNvSpPr/>
          <p:nvPr/>
        </p:nvSpPr>
        <p:spPr>
          <a:xfrm>
            <a:off x="393120" y="230436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713160" y="23043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YOLOv7-Tiny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30"/>
          <p:cNvSpPr/>
          <p:nvPr/>
        </p:nvSpPr>
        <p:spPr>
          <a:xfrm>
            <a:off x="2816280" y="232272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2816280" y="23227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YOLO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32"/>
          <p:cNvSpPr/>
          <p:nvPr/>
        </p:nvSpPr>
        <p:spPr>
          <a:xfrm>
            <a:off x="4096440" y="230436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3"/>
          <p:cNvSpPr/>
          <p:nvPr/>
        </p:nvSpPr>
        <p:spPr>
          <a:xfrm>
            <a:off x="5102280" y="23043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Efficient tiny version of YOLOv7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320040" y="2578680"/>
            <a:ext cx="8503560" cy="347040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35"/>
          <p:cNvSpPr/>
          <p:nvPr/>
        </p:nvSpPr>
        <p:spPr>
          <a:xfrm>
            <a:off x="393120" y="265176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36"/>
          <p:cNvSpPr/>
          <p:nvPr/>
        </p:nvSpPr>
        <p:spPr>
          <a:xfrm>
            <a:off x="713160" y="26517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RT-DETR-Lite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7"/>
          <p:cNvSpPr/>
          <p:nvPr/>
        </p:nvSpPr>
        <p:spPr>
          <a:xfrm>
            <a:off x="2816280" y="267012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6a1b9a"/>
          </a:solidFill>
          <a:ln w="12700">
            <a:solidFill>
              <a:srgbClr val="6a1b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Text 38"/>
          <p:cNvSpPr/>
          <p:nvPr/>
        </p:nvSpPr>
        <p:spPr>
          <a:xfrm>
            <a:off x="2816280" y="26701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Transformer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39"/>
          <p:cNvSpPr/>
          <p:nvPr/>
        </p:nvSpPr>
        <p:spPr>
          <a:xfrm>
            <a:off x="4096440" y="265176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40"/>
          <p:cNvSpPr/>
          <p:nvPr/>
        </p:nvSpPr>
        <p:spPr>
          <a:xfrm>
            <a:off x="5102280" y="26517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Real-time DETR with lite backbone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41"/>
          <p:cNvSpPr/>
          <p:nvPr/>
        </p:nvSpPr>
        <p:spPr>
          <a:xfrm>
            <a:off x="320040" y="2926080"/>
            <a:ext cx="850356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42"/>
          <p:cNvSpPr/>
          <p:nvPr/>
        </p:nvSpPr>
        <p:spPr>
          <a:xfrm>
            <a:off x="393120" y="299916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43"/>
          <p:cNvSpPr/>
          <p:nvPr/>
        </p:nvSpPr>
        <p:spPr>
          <a:xfrm>
            <a:off x="713160" y="29991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MobileNet-SSD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44"/>
          <p:cNvSpPr/>
          <p:nvPr/>
        </p:nvSpPr>
        <p:spPr>
          <a:xfrm>
            <a:off x="2816280" y="301752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 45"/>
          <p:cNvSpPr/>
          <p:nvPr/>
        </p:nvSpPr>
        <p:spPr>
          <a:xfrm>
            <a:off x="2816280" y="30175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SSD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6"/>
          <p:cNvSpPr/>
          <p:nvPr/>
        </p:nvSpPr>
        <p:spPr>
          <a:xfrm>
            <a:off x="4096440" y="299916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7"/>
          <p:cNvSpPr/>
          <p:nvPr/>
        </p:nvSpPr>
        <p:spPr>
          <a:xfrm>
            <a:off x="5102280" y="29991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Classic SSD with MobileNet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48"/>
          <p:cNvSpPr/>
          <p:nvPr/>
        </p:nvSpPr>
        <p:spPr>
          <a:xfrm>
            <a:off x="320040" y="3273480"/>
            <a:ext cx="8503560" cy="347040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49"/>
          <p:cNvSpPr/>
          <p:nvPr/>
        </p:nvSpPr>
        <p:spPr>
          <a:xfrm>
            <a:off x="393120" y="334656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50"/>
          <p:cNvSpPr/>
          <p:nvPr/>
        </p:nvSpPr>
        <p:spPr>
          <a:xfrm>
            <a:off x="713160" y="334656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FasterRCNN-MobileNet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51"/>
          <p:cNvSpPr/>
          <p:nvPr/>
        </p:nvSpPr>
        <p:spPr>
          <a:xfrm>
            <a:off x="2816280" y="336492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52"/>
          <p:cNvSpPr/>
          <p:nvPr/>
        </p:nvSpPr>
        <p:spPr>
          <a:xfrm>
            <a:off x="2816280" y="33649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R-CNN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53"/>
          <p:cNvSpPr/>
          <p:nvPr/>
        </p:nvSpPr>
        <p:spPr>
          <a:xfrm>
            <a:off x="4096440" y="334656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Two-Stage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54"/>
          <p:cNvSpPr/>
          <p:nvPr/>
        </p:nvSpPr>
        <p:spPr>
          <a:xfrm>
            <a:off x="5102280" y="334656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Two-stage with mobile backbone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55"/>
          <p:cNvSpPr/>
          <p:nvPr/>
        </p:nvSpPr>
        <p:spPr>
          <a:xfrm>
            <a:off x="320040" y="3620880"/>
            <a:ext cx="850356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56"/>
          <p:cNvSpPr/>
          <p:nvPr/>
        </p:nvSpPr>
        <p:spPr>
          <a:xfrm>
            <a:off x="393120" y="36943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57"/>
          <p:cNvSpPr/>
          <p:nvPr/>
        </p:nvSpPr>
        <p:spPr>
          <a:xfrm>
            <a:off x="713160" y="36943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NanoDet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58"/>
          <p:cNvSpPr/>
          <p:nvPr/>
        </p:nvSpPr>
        <p:spPr>
          <a:xfrm>
            <a:off x="2816280" y="371232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59"/>
          <p:cNvSpPr/>
          <p:nvPr/>
        </p:nvSpPr>
        <p:spPr>
          <a:xfrm>
            <a:off x="2816280" y="371232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NanoDet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60"/>
          <p:cNvSpPr/>
          <p:nvPr/>
        </p:nvSpPr>
        <p:spPr>
          <a:xfrm>
            <a:off x="4096440" y="36943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61"/>
          <p:cNvSpPr/>
          <p:nvPr/>
        </p:nvSpPr>
        <p:spPr>
          <a:xfrm>
            <a:off x="5102280" y="369432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Ultra-light detector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62"/>
          <p:cNvSpPr/>
          <p:nvPr/>
        </p:nvSpPr>
        <p:spPr>
          <a:xfrm>
            <a:off x="320040" y="3968640"/>
            <a:ext cx="8503560" cy="347040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63"/>
          <p:cNvSpPr/>
          <p:nvPr/>
        </p:nvSpPr>
        <p:spPr>
          <a:xfrm>
            <a:off x="393120" y="40417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4"/>
          <p:cNvSpPr/>
          <p:nvPr/>
        </p:nvSpPr>
        <p:spPr>
          <a:xfrm>
            <a:off x="713160" y="40417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EfficientDet-D0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65"/>
          <p:cNvSpPr/>
          <p:nvPr/>
        </p:nvSpPr>
        <p:spPr>
          <a:xfrm>
            <a:off x="2816280" y="406008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e65100"/>
          </a:solidFill>
          <a:ln w="12700">
            <a:solidFill>
              <a:srgbClr val="e651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66"/>
          <p:cNvSpPr/>
          <p:nvPr/>
        </p:nvSpPr>
        <p:spPr>
          <a:xfrm>
            <a:off x="2816280" y="40600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EfficientDet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67"/>
          <p:cNvSpPr/>
          <p:nvPr/>
        </p:nvSpPr>
        <p:spPr>
          <a:xfrm>
            <a:off x="4096440" y="40417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68"/>
          <p:cNvSpPr/>
          <p:nvPr/>
        </p:nvSpPr>
        <p:spPr>
          <a:xfrm>
            <a:off x="5102280" y="404172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Smallest EfficientDet tier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69"/>
          <p:cNvSpPr/>
          <p:nvPr/>
        </p:nvSpPr>
        <p:spPr>
          <a:xfrm>
            <a:off x="320040" y="4316040"/>
            <a:ext cx="850356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70"/>
          <p:cNvSpPr/>
          <p:nvPr/>
        </p:nvSpPr>
        <p:spPr>
          <a:xfrm>
            <a:off x="393120" y="43891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71"/>
          <p:cNvSpPr/>
          <p:nvPr/>
        </p:nvSpPr>
        <p:spPr>
          <a:xfrm>
            <a:off x="713160" y="43891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PP-YOLOE-S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72"/>
          <p:cNvSpPr/>
          <p:nvPr/>
        </p:nvSpPr>
        <p:spPr>
          <a:xfrm>
            <a:off x="2816280" y="440748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37474f"/>
          </a:solidFill>
          <a:ln w="12700">
            <a:solidFill>
              <a:srgbClr val="37474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73"/>
          <p:cNvSpPr/>
          <p:nvPr/>
        </p:nvSpPr>
        <p:spPr>
          <a:xfrm>
            <a:off x="2816280" y="44074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PP-YOLO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74"/>
          <p:cNvSpPr/>
          <p:nvPr/>
        </p:nvSpPr>
        <p:spPr>
          <a:xfrm>
            <a:off x="4096440" y="43891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75"/>
          <p:cNvSpPr/>
          <p:nvPr/>
        </p:nvSpPr>
        <p:spPr>
          <a:xfrm>
            <a:off x="5102280" y="438912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PaddlePaddle YOLO small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76"/>
          <p:cNvSpPr/>
          <p:nvPr/>
        </p:nvSpPr>
        <p:spPr>
          <a:xfrm>
            <a:off x="320040" y="4663440"/>
            <a:ext cx="8503560" cy="347040"/>
          </a:xfrm>
          <a:prstGeom prst="rect">
            <a:avLst/>
          </a:prstGeom>
          <a:solidFill>
            <a:srgbClr val="f0f4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77"/>
          <p:cNvSpPr/>
          <p:nvPr/>
        </p:nvSpPr>
        <p:spPr>
          <a:xfrm>
            <a:off x="393120" y="4736520"/>
            <a:ext cx="319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10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78"/>
          <p:cNvSpPr/>
          <p:nvPr/>
        </p:nvSpPr>
        <p:spPr>
          <a:xfrm>
            <a:off x="713160" y="47365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Edge-YOLO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79"/>
          <p:cNvSpPr/>
          <p:nvPr/>
        </p:nvSpPr>
        <p:spPr>
          <a:xfrm>
            <a:off x="2816280" y="4754880"/>
            <a:ext cx="1096920" cy="182520"/>
          </a:xfrm>
          <a:prstGeom prst="roundRect">
            <a:avLst>
              <a:gd name="adj" fmla="val 25000"/>
            </a:avLst>
          </a:prstGeom>
          <a:solidFill>
            <a:srgbClr val="4e342e"/>
          </a:solidFill>
          <a:ln w="12700">
            <a:solidFill>
              <a:srgbClr val="4e34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80"/>
          <p:cNvSpPr/>
          <p:nvPr/>
        </p:nvSpPr>
        <p:spPr>
          <a:xfrm>
            <a:off x="2816280" y="4754880"/>
            <a:ext cx="1096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Edge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81"/>
          <p:cNvSpPr/>
          <p:nvPr/>
        </p:nvSpPr>
        <p:spPr>
          <a:xfrm>
            <a:off x="4096440" y="47365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One-Stage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82"/>
          <p:cNvSpPr/>
          <p:nvPr/>
        </p:nvSpPr>
        <p:spPr>
          <a:xfrm>
            <a:off x="5102280" y="4736520"/>
            <a:ext cx="3428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Optimised for edge deployment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Training Setup &amp; Evaluation Protocol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Consistent methodology across all 10 models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6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7"/>
          <p:cNvSpPr/>
          <p:nvPr/>
        </p:nvSpPr>
        <p:spPr>
          <a:xfrm>
            <a:off x="320040" y="1325880"/>
            <a:ext cx="274284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7632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320040" y="1325880"/>
            <a:ext cx="27428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411480" y="14630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🔁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960120" y="14630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Epochs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11"/>
          <p:cNvSpPr/>
          <p:nvPr/>
        </p:nvSpPr>
        <p:spPr>
          <a:xfrm>
            <a:off x="960120" y="1719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25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411480" y="21945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46e7a"/>
                </a:solidFill>
                <a:latin typeface="Calibri"/>
                <a:ea typeface="Calibri"/>
              </a:rPr>
              <a:t>All models trained for 25 epochs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Shape 13"/>
          <p:cNvSpPr/>
          <p:nvPr/>
        </p:nvSpPr>
        <p:spPr>
          <a:xfrm>
            <a:off x="3264480" y="1325880"/>
            <a:ext cx="274284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7632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3264480" y="1325880"/>
            <a:ext cx="27428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3355920" y="14630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📌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3904560" y="14630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Checkpoint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7"/>
          <p:cNvSpPr/>
          <p:nvPr/>
        </p:nvSpPr>
        <p:spPr>
          <a:xfrm>
            <a:off x="3904560" y="1719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Best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8"/>
          <p:cNvSpPr/>
          <p:nvPr/>
        </p:nvSpPr>
        <p:spPr>
          <a:xfrm>
            <a:off x="3355920" y="21945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46e7a"/>
                </a:solidFill>
                <a:latin typeface="Calibri"/>
                <a:ea typeface="Calibri"/>
              </a:rPr>
              <a:t>Best model checkpoint selected for evaluation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19"/>
          <p:cNvSpPr/>
          <p:nvPr/>
        </p:nvSpPr>
        <p:spPr>
          <a:xfrm>
            <a:off x="6208920" y="1325880"/>
            <a:ext cx="274284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7632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0"/>
          <p:cNvSpPr/>
          <p:nvPr/>
        </p:nvSpPr>
        <p:spPr>
          <a:xfrm>
            <a:off x="6208920" y="1325880"/>
            <a:ext cx="27428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21"/>
          <p:cNvSpPr/>
          <p:nvPr/>
        </p:nvSpPr>
        <p:spPr>
          <a:xfrm>
            <a:off x="6300360" y="146304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📐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2"/>
          <p:cNvSpPr/>
          <p:nvPr/>
        </p:nvSpPr>
        <p:spPr>
          <a:xfrm>
            <a:off x="6849000" y="146304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Evaluation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3"/>
          <p:cNvSpPr/>
          <p:nvPr/>
        </p:nvSpPr>
        <p:spPr>
          <a:xfrm>
            <a:off x="6849000" y="171900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Validation Set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4"/>
          <p:cNvSpPr/>
          <p:nvPr/>
        </p:nvSpPr>
        <p:spPr>
          <a:xfrm>
            <a:off x="6300360" y="219456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46e7a"/>
                </a:solidFill>
                <a:latin typeface="Calibri"/>
                <a:ea typeface="Calibri"/>
              </a:rPr>
              <a:t>Standard train/val split followed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25"/>
          <p:cNvSpPr/>
          <p:nvPr/>
        </p:nvSpPr>
        <p:spPr>
          <a:xfrm>
            <a:off x="320040" y="3017520"/>
            <a:ext cx="274284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7632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6"/>
          <p:cNvSpPr/>
          <p:nvPr/>
        </p:nvSpPr>
        <p:spPr>
          <a:xfrm>
            <a:off x="320040" y="3017520"/>
            <a:ext cx="27428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7"/>
          <p:cNvSpPr/>
          <p:nvPr/>
        </p:nvSpPr>
        <p:spPr>
          <a:xfrm>
            <a:off x="411480" y="31546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📏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8"/>
          <p:cNvSpPr/>
          <p:nvPr/>
        </p:nvSpPr>
        <p:spPr>
          <a:xfrm>
            <a:off x="960120" y="31546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Metrics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9"/>
          <p:cNvSpPr/>
          <p:nvPr/>
        </p:nvSpPr>
        <p:spPr>
          <a:xfrm>
            <a:off x="960120" y="3410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5 KPIs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0"/>
          <p:cNvSpPr/>
          <p:nvPr/>
        </p:nvSpPr>
        <p:spPr>
          <a:xfrm>
            <a:off x="411480" y="38862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46e7a"/>
                </a:solidFill>
                <a:latin typeface="Calibri"/>
                <a:ea typeface="Calibri"/>
              </a:rPr>
              <a:t>Precision, Recall, mAP@0.5, mAP@0.5:0.95, Inference (ms)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31"/>
          <p:cNvSpPr/>
          <p:nvPr/>
        </p:nvSpPr>
        <p:spPr>
          <a:xfrm>
            <a:off x="3264480" y="3017520"/>
            <a:ext cx="274284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7632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2"/>
          <p:cNvSpPr/>
          <p:nvPr/>
        </p:nvSpPr>
        <p:spPr>
          <a:xfrm>
            <a:off x="3264480" y="3017520"/>
            <a:ext cx="27428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33"/>
          <p:cNvSpPr/>
          <p:nvPr/>
        </p:nvSpPr>
        <p:spPr>
          <a:xfrm>
            <a:off x="3355920" y="31546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⚖️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4"/>
          <p:cNvSpPr/>
          <p:nvPr/>
        </p:nvSpPr>
        <p:spPr>
          <a:xfrm>
            <a:off x="3904560" y="31546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Fairness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35"/>
          <p:cNvSpPr/>
          <p:nvPr/>
        </p:nvSpPr>
        <p:spPr>
          <a:xfrm>
            <a:off x="3904560" y="3410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Controlled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36"/>
          <p:cNvSpPr/>
          <p:nvPr/>
        </p:nvSpPr>
        <p:spPr>
          <a:xfrm>
            <a:off x="3355920" y="38862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46e7a"/>
                </a:solidFill>
                <a:latin typeface="Calibri"/>
                <a:ea typeface="Calibri"/>
              </a:rPr>
              <a:t>Same data splits and protocol for all models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37"/>
          <p:cNvSpPr/>
          <p:nvPr/>
        </p:nvSpPr>
        <p:spPr>
          <a:xfrm>
            <a:off x="6208920" y="3017520"/>
            <a:ext cx="2742840" cy="1462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7632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8"/>
          <p:cNvSpPr/>
          <p:nvPr/>
        </p:nvSpPr>
        <p:spPr>
          <a:xfrm>
            <a:off x="6208920" y="3017520"/>
            <a:ext cx="27428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Text 39"/>
          <p:cNvSpPr/>
          <p:nvPr/>
        </p:nvSpPr>
        <p:spPr>
          <a:xfrm>
            <a:off x="6300360" y="3154680"/>
            <a:ext cx="548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  <a:ea typeface="Calibri"/>
              </a:rPr>
              <a:t>🗃️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0"/>
          <p:cNvSpPr/>
          <p:nvPr/>
        </p:nvSpPr>
        <p:spPr>
          <a:xfrm>
            <a:off x="6849000" y="315468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Datasets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41"/>
          <p:cNvSpPr/>
          <p:nvPr/>
        </p:nvSpPr>
        <p:spPr>
          <a:xfrm>
            <a:off x="6849000" y="3410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d1b2a"/>
                </a:solidFill>
                <a:latin typeface="Calibri"/>
                <a:ea typeface="Calibri"/>
              </a:rPr>
              <a:t>2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42"/>
          <p:cNvSpPr/>
          <p:nvPr/>
        </p:nvSpPr>
        <p:spPr>
          <a:xfrm>
            <a:off x="6300360" y="38862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546e7a"/>
                </a:solidFill>
                <a:latin typeface="Calibri"/>
                <a:ea typeface="Calibri"/>
              </a:rPr>
              <a:t>Independent runs on MH16 and Cotton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MH16 Dataset — Full Results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All models | 25 epochs | Best checkpoint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7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7"/>
          <p:cNvSpPr/>
          <p:nvPr/>
        </p:nvSpPr>
        <p:spPr>
          <a:xfrm>
            <a:off x="228600" y="1170360"/>
            <a:ext cx="8686440" cy="338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8"/>
          <p:cNvSpPr/>
          <p:nvPr/>
        </p:nvSpPr>
        <p:spPr>
          <a:xfrm>
            <a:off x="301680" y="12344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Model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9"/>
          <p:cNvSpPr/>
          <p:nvPr/>
        </p:nvSpPr>
        <p:spPr>
          <a:xfrm>
            <a:off x="2404800" y="12344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Precision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10"/>
          <p:cNvSpPr/>
          <p:nvPr/>
        </p:nvSpPr>
        <p:spPr>
          <a:xfrm>
            <a:off x="3502080" y="12344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Recall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1"/>
          <p:cNvSpPr/>
          <p:nvPr/>
        </p:nvSpPr>
        <p:spPr>
          <a:xfrm>
            <a:off x="4416480" y="12344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mAP@0.5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2"/>
          <p:cNvSpPr/>
          <p:nvPr/>
        </p:nvSpPr>
        <p:spPr>
          <a:xfrm>
            <a:off x="5422320" y="12344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mAP@0.5:0.95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3"/>
          <p:cNvSpPr/>
          <p:nvPr/>
        </p:nvSpPr>
        <p:spPr>
          <a:xfrm>
            <a:off x="6793920" y="12344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Inf. (ms)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4"/>
          <p:cNvSpPr/>
          <p:nvPr/>
        </p:nvSpPr>
        <p:spPr>
          <a:xfrm>
            <a:off x="7799760" y="123444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Rank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5"/>
          <p:cNvSpPr/>
          <p:nvPr/>
        </p:nvSpPr>
        <p:spPr>
          <a:xfrm>
            <a:off x="228600" y="1508760"/>
            <a:ext cx="8686440" cy="338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6"/>
          <p:cNvSpPr/>
          <p:nvPr/>
        </p:nvSpPr>
        <p:spPr>
          <a:xfrm>
            <a:off x="301680" y="15728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YOLOv11-Nano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17"/>
          <p:cNvSpPr/>
          <p:nvPr/>
        </p:nvSpPr>
        <p:spPr>
          <a:xfrm>
            <a:off x="2404800" y="15728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8"/>
          <p:cNvSpPr/>
          <p:nvPr/>
        </p:nvSpPr>
        <p:spPr>
          <a:xfrm>
            <a:off x="3502080" y="15728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0.547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9"/>
          <p:cNvSpPr/>
          <p:nvPr/>
        </p:nvSpPr>
        <p:spPr>
          <a:xfrm>
            <a:off x="4416480" y="15728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0.574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0"/>
          <p:cNvSpPr/>
          <p:nvPr/>
        </p:nvSpPr>
        <p:spPr>
          <a:xfrm>
            <a:off x="5422320" y="15728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1"/>
          <p:cNvSpPr/>
          <p:nvPr/>
        </p:nvSpPr>
        <p:spPr>
          <a:xfrm>
            <a:off x="6793920" y="15728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2"/>
          <p:cNvSpPr/>
          <p:nvPr/>
        </p:nvSpPr>
        <p:spPr>
          <a:xfrm>
            <a:off x="7799760" y="157284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#9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23"/>
          <p:cNvSpPr/>
          <p:nvPr/>
        </p:nvSpPr>
        <p:spPr>
          <a:xfrm>
            <a:off x="228600" y="1847160"/>
            <a:ext cx="8686440" cy="338040"/>
          </a:xfrm>
          <a:prstGeom prst="rect">
            <a:avLst/>
          </a:prstGeom>
          <a:solidFill>
            <a:srgbClr val="e8f5e9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Shape 24"/>
          <p:cNvSpPr/>
          <p:nvPr/>
        </p:nvSpPr>
        <p:spPr>
          <a:xfrm>
            <a:off x="228600" y="1847160"/>
            <a:ext cx="45360" cy="338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25"/>
          <p:cNvSpPr/>
          <p:nvPr/>
        </p:nvSpPr>
        <p:spPr>
          <a:xfrm>
            <a:off x="301680" y="19112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YOLOv8-Nano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6"/>
          <p:cNvSpPr/>
          <p:nvPr/>
        </p:nvSpPr>
        <p:spPr>
          <a:xfrm>
            <a:off x="2404800" y="19112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27"/>
          <p:cNvSpPr/>
          <p:nvPr/>
        </p:nvSpPr>
        <p:spPr>
          <a:xfrm>
            <a:off x="3502080" y="19112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0.548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8"/>
          <p:cNvSpPr/>
          <p:nvPr/>
        </p:nvSpPr>
        <p:spPr>
          <a:xfrm>
            <a:off x="4416480" y="19112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0.582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9"/>
          <p:cNvSpPr/>
          <p:nvPr/>
        </p:nvSpPr>
        <p:spPr>
          <a:xfrm>
            <a:off x="5422320" y="19112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0"/>
          <p:cNvSpPr/>
          <p:nvPr/>
        </p:nvSpPr>
        <p:spPr>
          <a:xfrm>
            <a:off x="6793920" y="19112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 31"/>
          <p:cNvSpPr/>
          <p:nvPr/>
        </p:nvSpPr>
        <p:spPr>
          <a:xfrm>
            <a:off x="7799760" y="191124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88e3c"/>
                </a:solidFill>
                <a:latin typeface="Calibri"/>
                <a:ea typeface="Calibri"/>
              </a:rPr>
              <a:t>#3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Shape 32"/>
          <p:cNvSpPr/>
          <p:nvPr/>
        </p:nvSpPr>
        <p:spPr>
          <a:xfrm>
            <a:off x="228600" y="2185560"/>
            <a:ext cx="8686440" cy="338040"/>
          </a:xfrm>
          <a:prstGeom prst="rect">
            <a:avLst/>
          </a:prstGeom>
          <a:solidFill>
            <a:srgbClr val="e8f5e9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Shape 33"/>
          <p:cNvSpPr/>
          <p:nvPr/>
        </p:nvSpPr>
        <p:spPr>
          <a:xfrm>
            <a:off x="228600" y="2185560"/>
            <a:ext cx="45360" cy="338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34"/>
          <p:cNvSpPr/>
          <p:nvPr/>
        </p:nvSpPr>
        <p:spPr>
          <a:xfrm>
            <a:off x="301680" y="22492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RT-DETR-Lite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5"/>
          <p:cNvSpPr/>
          <p:nvPr/>
        </p:nvSpPr>
        <p:spPr>
          <a:xfrm>
            <a:off x="2404800" y="22492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0.706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36"/>
          <p:cNvSpPr/>
          <p:nvPr/>
        </p:nvSpPr>
        <p:spPr>
          <a:xfrm>
            <a:off x="3502080" y="22492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37"/>
          <p:cNvSpPr/>
          <p:nvPr/>
        </p:nvSpPr>
        <p:spPr>
          <a:xfrm>
            <a:off x="4416480" y="22492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0.662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8"/>
          <p:cNvSpPr/>
          <p:nvPr/>
        </p:nvSpPr>
        <p:spPr>
          <a:xfrm>
            <a:off x="5422320" y="22492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0.286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39"/>
          <p:cNvSpPr/>
          <p:nvPr/>
        </p:nvSpPr>
        <p:spPr>
          <a:xfrm>
            <a:off x="6793920" y="22492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49.5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40"/>
          <p:cNvSpPr/>
          <p:nvPr/>
        </p:nvSpPr>
        <p:spPr>
          <a:xfrm>
            <a:off x="7799760" y="22492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b5e20"/>
                </a:solidFill>
                <a:latin typeface="Calibri"/>
                <a:ea typeface="Calibri"/>
              </a:rPr>
              <a:t>#1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41"/>
          <p:cNvSpPr/>
          <p:nvPr/>
        </p:nvSpPr>
        <p:spPr>
          <a:xfrm>
            <a:off x="228600" y="252360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42"/>
          <p:cNvSpPr/>
          <p:nvPr/>
        </p:nvSpPr>
        <p:spPr>
          <a:xfrm>
            <a:off x="301680" y="25876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MobileNet-SSD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3"/>
          <p:cNvSpPr/>
          <p:nvPr/>
        </p:nvSpPr>
        <p:spPr>
          <a:xfrm>
            <a:off x="2404800" y="25876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44"/>
          <p:cNvSpPr/>
          <p:nvPr/>
        </p:nvSpPr>
        <p:spPr>
          <a:xfrm>
            <a:off x="3502080" y="25876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0.548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45"/>
          <p:cNvSpPr/>
          <p:nvPr/>
        </p:nvSpPr>
        <p:spPr>
          <a:xfrm>
            <a:off x="4416480" y="25876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0.582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46"/>
          <p:cNvSpPr/>
          <p:nvPr/>
        </p:nvSpPr>
        <p:spPr>
          <a:xfrm>
            <a:off x="5422320" y="25876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47"/>
          <p:cNvSpPr/>
          <p:nvPr/>
        </p:nvSpPr>
        <p:spPr>
          <a:xfrm>
            <a:off x="6793920" y="25876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48"/>
          <p:cNvSpPr/>
          <p:nvPr/>
        </p:nvSpPr>
        <p:spPr>
          <a:xfrm>
            <a:off x="7799760" y="25876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#4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49"/>
          <p:cNvSpPr/>
          <p:nvPr/>
        </p:nvSpPr>
        <p:spPr>
          <a:xfrm>
            <a:off x="228600" y="2862000"/>
            <a:ext cx="8686440" cy="338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50"/>
          <p:cNvSpPr/>
          <p:nvPr/>
        </p:nvSpPr>
        <p:spPr>
          <a:xfrm>
            <a:off x="301680" y="29260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FasterRCNN-MobileNet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51"/>
          <p:cNvSpPr/>
          <p:nvPr/>
        </p:nvSpPr>
        <p:spPr>
          <a:xfrm>
            <a:off x="2404800" y="29260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0.630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52"/>
          <p:cNvSpPr/>
          <p:nvPr/>
        </p:nvSpPr>
        <p:spPr>
          <a:xfrm>
            <a:off x="3502080" y="29260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0.521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53"/>
          <p:cNvSpPr/>
          <p:nvPr/>
        </p:nvSpPr>
        <p:spPr>
          <a:xfrm>
            <a:off x="4416480" y="29260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0.568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54"/>
          <p:cNvSpPr/>
          <p:nvPr/>
        </p:nvSpPr>
        <p:spPr>
          <a:xfrm>
            <a:off x="5422320" y="29260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55"/>
          <p:cNvSpPr/>
          <p:nvPr/>
        </p:nvSpPr>
        <p:spPr>
          <a:xfrm>
            <a:off x="6793920" y="29260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11.2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Text 56"/>
          <p:cNvSpPr/>
          <p:nvPr/>
        </p:nvSpPr>
        <p:spPr>
          <a:xfrm>
            <a:off x="7799760" y="29260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#10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Shape 57"/>
          <p:cNvSpPr/>
          <p:nvPr/>
        </p:nvSpPr>
        <p:spPr>
          <a:xfrm>
            <a:off x="228600" y="320040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58"/>
          <p:cNvSpPr/>
          <p:nvPr/>
        </p:nvSpPr>
        <p:spPr>
          <a:xfrm>
            <a:off x="301680" y="32644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NanoDet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59"/>
          <p:cNvSpPr/>
          <p:nvPr/>
        </p:nvSpPr>
        <p:spPr>
          <a:xfrm>
            <a:off x="2404800" y="32644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60"/>
          <p:cNvSpPr/>
          <p:nvPr/>
        </p:nvSpPr>
        <p:spPr>
          <a:xfrm>
            <a:off x="3502080" y="32644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0.548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61"/>
          <p:cNvSpPr/>
          <p:nvPr/>
        </p:nvSpPr>
        <p:spPr>
          <a:xfrm>
            <a:off x="4416480" y="32644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0.582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62"/>
          <p:cNvSpPr/>
          <p:nvPr/>
        </p:nvSpPr>
        <p:spPr>
          <a:xfrm>
            <a:off x="5422320" y="32644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63"/>
          <p:cNvSpPr/>
          <p:nvPr/>
        </p:nvSpPr>
        <p:spPr>
          <a:xfrm>
            <a:off x="6793920" y="32644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3.9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 64"/>
          <p:cNvSpPr/>
          <p:nvPr/>
        </p:nvSpPr>
        <p:spPr>
          <a:xfrm>
            <a:off x="7799760" y="326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Shape 65"/>
          <p:cNvSpPr/>
          <p:nvPr/>
        </p:nvSpPr>
        <p:spPr>
          <a:xfrm>
            <a:off x="228600" y="3538800"/>
            <a:ext cx="8686440" cy="338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66"/>
          <p:cNvSpPr/>
          <p:nvPr/>
        </p:nvSpPr>
        <p:spPr>
          <a:xfrm>
            <a:off x="301680" y="36028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EfficientDet-D0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67"/>
          <p:cNvSpPr/>
          <p:nvPr/>
        </p:nvSpPr>
        <p:spPr>
          <a:xfrm>
            <a:off x="2404800" y="36028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 68"/>
          <p:cNvSpPr/>
          <p:nvPr/>
        </p:nvSpPr>
        <p:spPr>
          <a:xfrm>
            <a:off x="3502080" y="36028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0.548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69"/>
          <p:cNvSpPr/>
          <p:nvPr/>
        </p:nvSpPr>
        <p:spPr>
          <a:xfrm>
            <a:off x="4416480" y="36028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0.582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70"/>
          <p:cNvSpPr/>
          <p:nvPr/>
        </p:nvSpPr>
        <p:spPr>
          <a:xfrm>
            <a:off x="5422320" y="36028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71"/>
          <p:cNvSpPr/>
          <p:nvPr/>
        </p:nvSpPr>
        <p:spPr>
          <a:xfrm>
            <a:off x="6793920" y="36028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72"/>
          <p:cNvSpPr/>
          <p:nvPr/>
        </p:nvSpPr>
        <p:spPr>
          <a:xfrm>
            <a:off x="7799760" y="36028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#6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Shape 73"/>
          <p:cNvSpPr/>
          <p:nvPr/>
        </p:nvSpPr>
        <p:spPr>
          <a:xfrm>
            <a:off x="228600" y="387720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74"/>
          <p:cNvSpPr/>
          <p:nvPr/>
        </p:nvSpPr>
        <p:spPr>
          <a:xfrm>
            <a:off x="301680" y="39409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PP-YOLOE-S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 75"/>
          <p:cNvSpPr/>
          <p:nvPr/>
        </p:nvSpPr>
        <p:spPr>
          <a:xfrm>
            <a:off x="2404800" y="39409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76"/>
          <p:cNvSpPr/>
          <p:nvPr/>
        </p:nvSpPr>
        <p:spPr>
          <a:xfrm>
            <a:off x="3502080" y="39409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0.548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77"/>
          <p:cNvSpPr/>
          <p:nvPr/>
        </p:nvSpPr>
        <p:spPr>
          <a:xfrm>
            <a:off x="4416480" y="39409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0.582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78"/>
          <p:cNvSpPr/>
          <p:nvPr/>
        </p:nvSpPr>
        <p:spPr>
          <a:xfrm>
            <a:off x="5422320" y="39409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79"/>
          <p:cNvSpPr/>
          <p:nvPr/>
        </p:nvSpPr>
        <p:spPr>
          <a:xfrm>
            <a:off x="6793920" y="39409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 80"/>
          <p:cNvSpPr/>
          <p:nvPr/>
        </p:nvSpPr>
        <p:spPr>
          <a:xfrm>
            <a:off x="7799760" y="394092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#7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81"/>
          <p:cNvSpPr/>
          <p:nvPr/>
        </p:nvSpPr>
        <p:spPr>
          <a:xfrm>
            <a:off x="228600" y="4215240"/>
            <a:ext cx="8686440" cy="338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 82"/>
          <p:cNvSpPr/>
          <p:nvPr/>
        </p:nvSpPr>
        <p:spPr>
          <a:xfrm>
            <a:off x="301680" y="42793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Edge-YOLO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Text 83"/>
          <p:cNvSpPr/>
          <p:nvPr/>
        </p:nvSpPr>
        <p:spPr>
          <a:xfrm>
            <a:off x="2404800" y="4279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0.629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 84"/>
          <p:cNvSpPr/>
          <p:nvPr/>
        </p:nvSpPr>
        <p:spPr>
          <a:xfrm>
            <a:off x="3502080" y="4279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0.548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85"/>
          <p:cNvSpPr/>
          <p:nvPr/>
        </p:nvSpPr>
        <p:spPr>
          <a:xfrm>
            <a:off x="4416480" y="42793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0.582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 86"/>
          <p:cNvSpPr/>
          <p:nvPr/>
        </p:nvSpPr>
        <p:spPr>
          <a:xfrm>
            <a:off x="5422320" y="42793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Text 87"/>
          <p:cNvSpPr/>
          <p:nvPr/>
        </p:nvSpPr>
        <p:spPr>
          <a:xfrm>
            <a:off x="6793920" y="42793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3.9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Text 88"/>
          <p:cNvSpPr/>
          <p:nvPr/>
        </p:nvSpPr>
        <p:spPr>
          <a:xfrm>
            <a:off x="7799760" y="427932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#8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89"/>
          <p:cNvSpPr/>
          <p:nvPr/>
        </p:nvSpPr>
        <p:spPr>
          <a:xfrm>
            <a:off x="228600" y="4553640"/>
            <a:ext cx="8686440" cy="338040"/>
          </a:xfrm>
          <a:prstGeom prst="rect">
            <a:avLst/>
          </a:prstGeom>
          <a:solidFill>
            <a:srgbClr val="e8f5e9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90"/>
          <p:cNvSpPr/>
          <p:nvPr/>
        </p:nvSpPr>
        <p:spPr>
          <a:xfrm>
            <a:off x="228600" y="4553640"/>
            <a:ext cx="45360" cy="338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91"/>
          <p:cNvSpPr/>
          <p:nvPr/>
        </p:nvSpPr>
        <p:spPr>
          <a:xfrm>
            <a:off x="301680" y="46177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YOLOv7-Tiny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92"/>
          <p:cNvSpPr/>
          <p:nvPr/>
        </p:nvSpPr>
        <p:spPr>
          <a:xfrm>
            <a:off x="2404800" y="46177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0.635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93"/>
          <p:cNvSpPr/>
          <p:nvPr/>
        </p:nvSpPr>
        <p:spPr>
          <a:xfrm>
            <a:off x="3502080" y="46177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0.560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94"/>
          <p:cNvSpPr/>
          <p:nvPr/>
        </p:nvSpPr>
        <p:spPr>
          <a:xfrm>
            <a:off x="4416480" y="46177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0.595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95"/>
          <p:cNvSpPr/>
          <p:nvPr/>
        </p:nvSpPr>
        <p:spPr>
          <a:xfrm>
            <a:off x="5422320" y="4617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0.245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96"/>
          <p:cNvSpPr/>
          <p:nvPr/>
        </p:nvSpPr>
        <p:spPr>
          <a:xfrm>
            <a:off x="6793920" y="46177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5.5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97"/>
          <p:cNvSpPr/>
          <p:nvPr/>
        </p:nvSpPr>
        <p:spPr>
          <a:xfrm>
            <a:off x="7799760" y="461772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2e7d32"/>
                </a:solidFill>
                <a:latin typeface="Calibri"/>
                <a:ea typeface="Calibri"/>
              </a:rPr>
              <a:t>#2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98"/>
          <p:cNvSpPr/>
          <p:nvPr/>
        </p:nvSpPr>
        <p:spPr>
          <a:xfrm>
            <a:off x="228600" y="466344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900" spc="-1" strike="noStrike">
                <a:solidFill>
                  <a:srgbClr val="2e7d32"/>
                </a:solidFill>
                <a:latin typeface="Calibri"/>
                <a:ea typeface="Calibri"/>
              </a:rPr>
              <a:t>🏆 </a:t>
            </a:r>
            <a:r>
              <a:rPr b="1" i="1" lang="en-US" sz="900" spc="-1" strike="noStrike">
                <a:solidFill>
                  <a:srgbClr val="2e7d32"/>
                </a:solidFill>
                <a:latin typeface="Calibri"/>
                <a:ea typeface="Calibri"/>
              </a:rPr>
              <a:t>RT-DETR-Lite ranks #1 on MH16  |  Green rows = Top 3  |  Best values highlighted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MH16 — mAP@0.5 Performance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Ranked comparison across all 10 models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8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5" name="Chart 0"/>
          <p:cNvGraphicFramePr/>
          <p:nvPr/>
        </p:nvGraphicFramePr>
        <p:xfrm>
          <a:off x="365760" y="1143000"/>
          <a:ext cx="8412120" cy="361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56" name="Text 7"/>
          <p:cNvSpPr/>
          <p:nvPr/>
        </p:nvSpPr>
        <p:spPr>
          <a:xfrm>
            <a:off x="365760" y="466344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RT-DETR-Lite leads at 0.662  ·  Teal bar = #1 model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MH16 — Precision vs Recall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How well do models detect without false positives?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9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64" name="Chart 0"/>
          <p:cNvGraphicFramePr/>
          <p:nvPr/>
        </p:nvGraphicFramePr>
        <p:xfrm>
          <a:off x="365760" y="1143000"/>
          <a:ext cx="8412120" cy="361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65" name="Text 7"/>
          <p:cNvSpPr/>
          <p:nvPr/>
        </p:nvSpPr>
        <p:spPr>
          <a:xfrm>
            <a:off x="365760" y="466344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1565c0"/>
                </a:solidFill>
                <a:latin typeface="Calibri"/>
                <a:ea typeface="Calibri"/>
              </a:rPr>
              <a:t>RT-DETR-Lite achieves highest Precision (0.706) AND Recall (0.625) on MH16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Cotton Dataset — Full Results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All models | 25 epochs | Best checkpoint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10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7"/>
          <p:cNvSpPr/>
          <p:nvPr/>
        </p:nvSpPr>
        <p:spPr>
          <a:xfrm>
            <a:off x="228600" y="1170360"/>
            <a:ext cx="8686440" cy="338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301680" y="12344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Model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9"/>
          <p:cNvSpPr/>
          <p:nvPr/>
        </p:nvSpPr>
        <p:spPr>
          <a:xfrm>
            <a:off x="2404800" y="12344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Precision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10"/>
          <p:cNvSpPr/>
          <p:nvPr/>
        </p:nvSpPr>
        <p:spPr>
          <a:xfrm>
            <a:off x="3502080" y="12344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Recall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11"/>
          <p:cNvSpPr/>
          <p:nvPr/>
        </p:nvSpPr>
        <p:spPr>
          <a:xfrm>
            <a:off x="4416480" y="12344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mAP@0.5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2"/>
          <p:cNvSpPr/>
          <p:nvPr/>
        </p:nvSpPr>
        <p:spPr>
          <a:xfrm>
            <a:off x="5422320" y="12344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mAP@0.5:0.95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3"/>
          <p:cNvSpPr/>
          <p:nvPr/>
        </p:nvSpPr>
        <p:spPr>
          <a:xfrm>
            <a:off x="6793920" y="12344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Inf. (ms)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14"/>
          <p:cNvSpPr/>
          <p:nvPr/>
        </p:nvSpPr>
        <p:spPr>
          <a:xfrm>
            <a:off x="7799760" y="123444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Rank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15"/>
          <p:cNvSpPr/>
          <p:nvPr/>
        </p:nvSpPr>
        <p:spPr>
          <a:xfrm>
            <a:off x="228600" y="1508760"/>
            <a:ext cx="8686440" cy="338040"/>
          </a:xfrm>
          <a:prstGeom prst="rect">
            <a:avLst/>
          </a:prstGeom>
          <a:solidFill>
            <a:srgbClr val="e0f2f1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Shape 16"/>
          <p:cNvSpPr/>
          <p:nvPr/>
        </p:nvSpPr>
        <p:spPr>
          <a:xfrm>
            <a:off x="228600" y="1508760"/>
            <a:ext cx="45360" cy="338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17"/>
          <p:cNvSpPr/>
          <p:nvPr/>
        </p:nvSpPr>
        <p:spPr>
          <a:xfrm>
            <a:off x="301680" y="15728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YOLOv11-Nano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18"/>
          <p:cNvSpPr/>
          <p:nvPr/>
        </p:nvSpPr>
        <p:spPr>
          <a:xfrm>
            <a:off x="2404800" y="15728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0.753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19"/>
          <p:cNvSpPr/>
          <p:nvPr/>
        </p:nvSpPr>
        <p:spPr>
          <a:xfrm>
            <a:off x="3502080" y="15728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0.884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20"/>
          <p:cNvSpPr/>
          <p:nvPr/>
        </p:nvSpPr>
        <p:spPr>
          <a:xfrm>
            <a:off x="4416480" y="15728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0695c"/>
                </a:solidFill>
                <a:latin typeface="Calibri"/>
                <a:ea typeface="Calibri"/>
              </a:rPr>
              <a:t>0.833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1"/>
          <p:cNvSpPr/>
          <p:nvPr/>
        </p:nvSpPr>
        <p:spPr>
          <a:xfrm>
            <a:off x="5422320" y="15728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0.751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Text 22"/>
          <p:cNvSpPr/>
          <p:nvPr/>
        </p:nvSpPr>
        <p:spPr>
          <a:xfrm>
            <a:off x="6793920" y="15728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23"/>
          <p:cNvSpPr/>
          <p:nvPr/>
        </p:nvSpPr>
        <p:spPr>
          <a:xfrm>
            <a:off x="7799760" y="157284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4d40"/>
                </a:solidFill>
                <a:latin typeface="Calibri"/>
                <a:ea typeface="Calibri"/>
              </a:rPr>
              <a:t>#1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24"/>
          <p:cNvSpPr/>
          <p:nvPr/>
        </p:nvSpPr>
        <p:spPr>
          <a:xfrm>
            <a:off x="228600" y="184716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Text 25"/>
          <p:cNvSpPr/>
          <p:nvPr/>
        </p:nvSpPr>
        <p:spPr>
          <a:xfrm>
            <a:off x="301680" y="19112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YOLOv8-Nano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26"/>
          <p:cNvSpPr/>
          <p:nvPr/>
        </p:nvSpPr>
        <p:spPr>
          <a:xfrm>
            <a:off x="2404800" y="19112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0.742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27"/>
          <p:cNvSpPr/>
          <p:nvPr/>
        </p:nvSpPr>
        <p:spPr>
          <a:xfrm>
            <a:off x="3502080" y="191124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 28"/>
          <p:cNvSpPr/>
          <p:nvPr/>
        </p:nvSpPr>
        <p:spPr>
          <a:xfrm>
            <a:off x="4416480" y="19112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0.787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29"/>
          <p:cNvSpPr/>
          <p:nvPr/>
        </p:nvSpPr>
        <p:spPr>
          <a:xfrm>
            <a:off x="5422320" y="191124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0.712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30"/>
          <p:cNvSpPr/>
          <p:nvPr/>
        </p:nvSpPr>
        <p:spPr>
          <a:xfrm>
            <a:off x="6793920" y="191124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31"/>
          <p:cNvSpPr/>
          <p:nvPr/>
        </p:nvSpPr>
        <p:spPr>
          <a:xfrm>
            <a:off x="7799760" y="191124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#5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32"/>
          <p:cNvSpPr/>
          <p:nvPr/>
        </p:nvSpPr>
        <p:spPr>
          <a:xfrm>
            <a:off x="228600" y="2185560"/>
            <a:ext cx="8686440" cy="338040"/>
          </a:xfrm>
          <a:prstGeom prst="rect">
            <a:avLst/>
          </a:prstGeom>
          <a:solidFill>
            <a:srgbClr val="e0f2f1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33"/>
          <p:cNvSpPr/>
          <p:nvPr/>
        </p:nvSpPr>
        <p:spPr>
          <a:xfrm>
            <a:off x="228600" y="2185560"/>
            <a:ext cx="45360" cy="338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34"/>
          <p:cNvSpPr/>
          <p:nvPr/>
        </p:nvSpPr>
        <p:spPr>
          <a:xfrm>
            <a:off x="301680" y="22492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RT-DETR-Lite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35"/>
          <p:cNvSpPr/>
          <p:nvPr/>
        </p:nvSpPr>
        <p:spPr>
          <a:xfrm>
            <a:off x="2404800" y="22492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36"/>
          <p:cNvSpPr/>
          <p:nvPr/>
        </p:nvSpPr>
        <p:spPr>
          <a:xfrm>
            <a:off x="3502080" y="22492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0.951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37"/>
          <p:cNvSpPr/>
          <p:nvPr/>
        </p:nvSpPr>
        <p:spPr>
          <a:xfrm>
            <a:off x="4416480" y="22492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0.826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38"/>
          <p:cNvSpPr/>
          <p:nvPr/>
        </p:nvSpPr>
        <p:spPr>
          <a:xfrm>
            <a:off x="5422320" y="22492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0.716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39"/>
          <p:cNvSpPr/>
          <p:nvPr/>
        </p:nvSpPr>
        <p:spPr>
          <a:xfrm>
            <a:off x="6793920" y="22492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49.2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40"/>
          <p:cNvSpPr/>
          <p:nvPr/>
        </p:nvSpPr>
        <p:spPr>
          <a:xfrm>
            <a:off x="7799760" y="22492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695c"/>
                </a:solidFill>
                <a:latin typeface="Calibri"/>
                <a:ea typeface="Calibri"/>
              </a:rPr>
              <a:t>#2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Shape 41"/>
          <p:cNvSpPr/>
          <p:nvPr/>
        </p:nvSpPr>
        <p:spPr>
          <a:xfrm>
            <a:off x="228600" y="252360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42"/>
          <p:cNvSpPr/>
          <p:nvPr/>
        </p:nvSpPr>
        <p:spPr>
          <a:xfrm>
            <a:off x="301680" y="25876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MobileNet-SSD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43"/>
          <p:cNvSpPr/>
          <p:nvPr/>
        </p:nvSpPr>
        <p:spPr>
          <a:xfrm>
            <a:off x="2404800" y="25876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0.742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44"/>
          <p:cNvSpPr/>
          <p:nvPr/>
        </p:nvSpPr>
        <p:spPr>
          <a:xfrm>
            <a:off x="3502080" y="25876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45"/>
          <p:cNvSpPr/>
          <p:nvPr/>
        </p:nvSpPr>
        <p:spPr>
          <a:xfrm>
            <a:off x="4416480" y="25876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0.787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Text 46"/>
          <p:cNvSpPr/>
          <p:nvPr/>
        </p:nvSpPr>
        <p:spPr>
          <a:xfrm>
            <a:off x="5422320" y="25876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0.712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47"/>
          <p:cNvSpPr/>
          <p:nvPr/>
        </p:nvSpPr>
        <p:spPr>
          <a:xfrm>
            <a:off x="6793920" y="25876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Text 48"/>
          <p:cNvSpPr/>
          <p:nvPr/>
        </p:nvSpPr>
        <p:spPr>
          <a:xfrm>
            <a:off x="7799760" y="25876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#6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49"/>
          <p:cNvSpPr/>
          <p:nvPr/>
        </p:nvSpPr>
        <p:spPr>
          <a:xfrm>
            <a:off x="228600" y="2862000"/>
            <a:ext cx="8686440" cy="338040"/>
          </a:xfrm>
          <a:prstGeom prst="rect">
            <a:avLst/>
          </a:prstGeom>
          <a:solidFill>
            <a:srgbClr val="e0f2f1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Shape 50"/>
          <p:cNvSpPr/>
          <p:nvPr/>
        </p:nvSpPr>
        <p:spPr>
          <a:xfrm>
            <a:off x="228600" y="2862000"/>
            <a:ext cx="45360" cy="3380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51"/>
          <p:cNvSpPr/>
          <p:nvPr/>
        </p:nvSpPr>
        <p:spPr>
          <a:xfrm>
            <a:off x="301680" y="29260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FasterRCNN-MobileNet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52"/>
          <p:cNvSpPr/>
          <p:nvPr/>
        </p:nvSpPr>
        <p:spPr>
          <a:xfrm>
            <a:off x="2404800" y="29260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0.731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53"/>
          <p:cNvSpPr/>
          <p:nvPr/>
        </p:nvSpPr>
        <p:spPr>
          <a:xfrm>
            <a:off x="3502080" y="29260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0.877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 54"/>
          <p:cNvSpPr/>
          <p:nvPr/>
        </p:nvSpPr>
        <p:spPr>
          <a:xfrm>
            <a:off x="4416480" y="29260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0.820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Text 55"/>
          <p:cNvSpPr/>
          <p:nvPr/>
        </p:nvSpPr>
        <p:spPr>
          <a:xfrm>
            <a:off x="5422320" y="29260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0.746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 56"/>
          <p:cNvSpPr/>
          <p:nvPr/>
        </p:nvSpPr>
        <p:spPr>
          <a:xfrm>
            <a:off x="6793920" y="29260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11.3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57"/>
          <p:cNvSpPr/>
          <p:nvPr/>
        </p:nvSpPr>
        <p:spPr>
          <a:xfrm>
            <a:off x="7799760" y="29260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796b"/>
                </a:solidFill>
                <a:latin typeface="Calibri"/>
                <a:ea typeface="Calibri"/>
              </a:rPr>
              <a:t>#3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58"/>
          <p:cNvSpPr/>
          <p:nvPr/>
        </p:nvSpPr>
        <p:spPr>
          <a:xfrm>
            <a:off x="228600" y="320040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Text 59"/>
          <p:cNvSpPr/>
          <p:nvPr/>
        </p:nvSpPr>
        <p:spPr>
          <a:xfrm>
            <a:off x="301680" y="32644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NanoDet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60"/>
          <p:cNvSpPr/>
          <p:nvPr/>
        </p:nvSpPr>
        <p:spPr>
          <a:xfrm>
            <a:off x="2404800" y="32644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0.742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61"/>
          <p:cNvSpPr/>
          <p:nvPr/>
        </p:nvSpPr>
        <p:spPr>
          <a:xfrm>
            <a:off x="3502080" y="32644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Text 62"/>
          <p:cNvSpPr/>
          <p:nvPr/>
        </p:nvSpPr>
        <p:spPr>
          <a:xfrm>
            <a:off x="4416480" y="32644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0.787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63"/>
          <p:cNvSpPr/>
          <p:nvPr/>
        </p:nvSpPr>
        <p:spPr>
          <a:xfrm>
            <a:off x="5422320" y="32644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0.725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64"/>
          <p:cNvSpPr/>
          <p:nvPr/>
        </p:nvSpPr>
        <p:spPr>
          <a:xfrm>
            <a:off x="6793920" y="32644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65"/>
          <p:cNvSpPr/>
          <p:nvPr/>
        </p:nvSpPr>
        <p:spPr>
          <a:xfrm>
            <a:off x="7799760" y="32644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#7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66"/>
          <p:cNvSpPr/>
          <p:nvPr/>
        </p:nvSpPr>
        <p:spPr>
          <a:xfrm>
            <a:off x="228600" y="3538800"/>
            <a:ext cx="8686440" cy="338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67"/>
          <p:cNvSpPr/>
          <p:nvPr/>
        </p:nvSpPr>
        <p:spPr>
          <a:xfrm>
            <a:off x="301680" y="360288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EfficientDet-D0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68"/>
          <p:cNvSpPr/>
          <p:nvPr/>
        </p:nvSpPr>
        <p:spPr>
          <a:xfrm>
            <a:off x="2404800" y="36028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0.742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69"/>
          <p:cNvSpPr/>
          <p:nvPr/>
        </p:nvSpPr>
        <p:spPr>
          <a:xfrm>
            <a:off x="3502080" y="360288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70"/>
          <p:cNvSpPr/>
          <p:nvPr/>
        </p:nvSpPr>
        <p:spPr>
          <a:xfrm>
            <a:off x="4416480" y="36028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0.787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71"/>
          <p:cNvSpPr/>
          <p:nvPr/>
        </p:nvSpPr>
        <p:spPr>
          <a:xfrm>
            <a:off x="5422320" y="36028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0.712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72"/>
          <p:cNvSpPr/>
          <p:nvPr/>
        </p:nvSpPr>
        <p:spPr>
          <a:xfrm>
            <a:off x="6793920" y="360288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3.9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73"/>
          <p:cNvSpPr/>
          <p:nvPr/>
        </p:nvSpPr>
        <p:spPr>
          <a:xfrm>
            <a:off x="7799760" y="360288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#8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74"/>
          <p:cNvSpPr/>
          <p:nvPr/>
        </p:nvSpPr>
        <p:spPr>
          <a:xfrm>
            <a:off x="228600" y="387720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75"/>
          <p:cNvSpPr/>
          <p:nvPr/>
        </p:nvSpPr>
        <p:spPr>
          <a:xfrm>
            <a:off x="301680" y="39409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PP-YOLOE-S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76"/>
          <p:cNvSpPr/>
          <p:nvPr/>
        </p:nvSpPr>
        <p:spPr>
          <a:xfrm>
            <a:off x="2404800" y="39409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0.742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77"/>
          <p:cNvSpPr/>
          <p:nvPr/>
        </p:nvSpPr>
        <p:spPr>
          <a:xfrm>
            <a:off x="3502080" y="39409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78"/>
          <p:cNvSpPr/>
          <p:nvPr/>
        </p:nvSpPr>
        <p:spPr>
          <a:xfrm>
            <a:off x="4416480" y="39409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0.787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79"/>
          <p:cNvSpPr/>
          <p:nvPr/>
        </p:nvSpPr>
        <p:spPr>
          <a:xfrm>
            <a:off x="5422320" y="39409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0.712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80"/>
          <p:cNvSpPr/>
          <p:nvPr/>
        </p:nvSpPr>
        <p:spPr>
          <a:xfrm>
            <a:off x="6793920" y="39409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3.8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81"/>
          <p:cNvSpPr/>
          <p:nvPr/>
        </p:nvSpPr>
        <p:spPr>
          <a:xfrm>
            <a:off x="7799760" y="394092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#9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82"/>
          <p:cNvSpPr/>
          <p:nvPr/>
        </p:nvSpPr>
        <p:spPr>
          <a:xfrm>
            <a:off x="228600" y="4215240"/>
            <a:ext cx="8686440" cy="33804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83"/>
          <p:cNvSpPr/>
          <p:nvPr/>
        </p:nvSpPr>
        <p:spPr>
          <a:xfrm>
            <a:off x="301680" y="42793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Edge-YOLO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84"/>
          <p:cNvSpPr/>
          <p:nvPr/>
        </p:nvSpPr>
        <p:spPr>
          <a:xfrm>
            <a:off x="2404800" y="4279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0.742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85"/>
          <p:cNvSpPr/>
          <p:nvPr/>
        </p:nvSpPr>
        <p:spPr>
          <a:xfrm>
            <a:off x="3502080" y="4279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0.817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 86"/>
          <p:cNvSpPr/>
          <p:nvPr/>
        </p:nvSpPr>
        <p:spPr>
          <a:xfrm>
            <a:off x="4416480" y="42793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0.787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Text 87"/>
          <p:cNvSpPr/>
          <p:nvPr/>
        </p:nvSpPr>
        <p:spPr>
          <a:xfrm>
            <a:off x="5422320" y="42793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0.712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88"/>
          <p:cNvSpPr/>
          <p:nvPr/>
        </p:nvSpPr>
        <p:spPr>
          <a:xfrm>
            <a:off x="6793920" y="42793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4.0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89"/>
          <p:cNvSpPr/>
          <p:nvPr/>
        </p:nvSpPr>
        <p:spPr>
          <a:xfrm>
            <a:off x="7799760" y="427932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#10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Shape 90"/>
          <p:cNvSpPr/>
          <p:nvPr/>
        </p:nvSpPr>
        <p:spPr>
          <a:xfrm>
            <a:off x="228600" y="4553640"/>
            <a:ext cx="8686440" cy="338040"/>
          </a:xfrm>
          <a:prstGeom prst="rect">
            <a:avLst/>
          </a:prstGeom>
          <a:solidFill>
            <a:srgbClr val="f5f7fa"/>
          </a:solidFill>
          <a:ln w="3810">
            <a:solidFill>
              <a:srgbClr val="e0e0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91"/>
          <p:cNvSpPr/>
          <p:nvPr/>
        </p:nvSpPr>
        <p:spPr>
          <a:xfrm>
            <a:off x="301680" y="461772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YOLOv7-Tiny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92"/>
          <p:cNvSpPr/>
          <p:nvPr/>
        </p:nvSpPr>
        <p:spPr>
          <a:xfrm>
            <a:off x="2404800" y="46177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0.755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93"/>
          <p:cNvSpPr/>
          <p:nvPr/>
        </p:nvSpPr>
        <p:spPr>
          <a:xfrm>
            <a:off x="3502080" y="46177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0.830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94"/>
          <p:cNvSpPr/>
          <p:nvPr/>
        </p:nvSpPr>
        <p:spPr>
          <a:xfrm>
            <a:off x="4416480" y="46177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0.800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95"/>
          <p:cNvSpPr/>
          <p:nvPr/>
        </p:nvSpPr>
        <p:spPr>
          <a:xfrm>
            <a:off x="5422320" y="4617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0.725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96"/>
          <p:cNvSpPr/>
          <p:nvPr/>
        </p:nvSpPr>
        <p:spPr>
          <a:xfrm>
            <a:off x="6793920" y="4617720"/>
            <a:ext cx="10054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0d1b2a"/>
                </a:solidFill>
                <a:latin typeface="Calibri"/>
                <a:ea typeface="Calibri"/>
              </a:rPr>
              <a:t>5.5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97"/>
          <p:cNvSpPr/>
          <p:nvPr/>
        </p:nvSpPr>
        <p:spPr>
          <a:xfrm>
            <a:off x="7799760" y="4617720"/>
            <a:ext cx="7311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#4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98"/>
          <p:cNvSpPr/>
          <p:nvPr/>
        </p:nvSpPr>
        <p:spPr>
          <a:xfrm>
            <a:off x="228600" y="4663440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900" spc="-1" strike="noStrike">
                <a:solidFill>
                  <a:srgbClr val="00695c"/>
                </a:solidFill>
                <a:latin typeface="Calibri"/>
                <a:ea typeface="Calibri"/>
              </a:rPr>
              <a:t>🏆 </a:t>
            </a:r>
            <a:r>
              <a:rPr b="1" i="1" lang="en-US" sz="900" spc="-1" strike="noStrike">
                <a:solidFill>
                  <a:srgbClr val="00695c"/>
                </a:solidFill>
                <a:latin typeface="Calibri"/>
                <a:ea typeface="Calibri"/>
              </a:rPr>
              <a:t>YOLOv11-Nano ranks #1 on Cotton  |  Teal rows = Top 3  |  Best values highlighted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Cotton Dataset — mAP@0.5 Performance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Ranked comparison across all 10 models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11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72" name="Chart 0"/>
          <p:cNvGraphicFramePr/>
          <p:nvPr/>
        </p:nvGraphicFramePr>
        <p:xfrm>
          <a:off x="365760" y="1143000"/>
          <a:ext cx="8412120" cy="3611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73" name="Text 7"/>
          <p:cNvSpPr/>
          <p:nvPr/>
        </p:nvSpPr>
        <p:spPr>
          <a:xfrm>
            <a:off x="365760" y="466344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YOLOv11-Nano leads at 0.833  ·  RT-DETR-Lite close second at 0.826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Cross-Dataset mAP@0.5 Comparison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How each model performs across both datasets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12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81" name="Chart 0"/>
          <p:cNvGraphicFramePr/>
          <p:nvPr/>
        </p:nvGraphicFramePr>
        <p:xfrm>
          <a:off x="365760" y="1097280"/>
          <a:ext cx="841212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82" name="Text 7"/>
          <p:cNvSpPr/>
          <p:nvPr/>
        </p:nvSpPr>
        <p:spPr>
          <a:xfrm>
            <a:off x="365760" y="464508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546e7a"/>
                </a:solidFill>
                <a:latin typeface="Calibri"/>
                <a:ea typeface="Calibri"/>
              </a:rPr>
              <a:t>Cotton scores are consistently higher — dataset complexity drives performance gaps more than architecture choice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mAP@0.5:0.95 — Strict Localisation Accuracy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Tighter IoU thresholds reveal true detection quality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13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0" name="Chart 0"/>
          <p:cNvGraphicFramePr/>
          <p:nvPr/>
        </p:nvGraphicFramePr>
        <p:xfrm>
          <a:off x="365760" y="1097280"/>
          <a:ext cx="8412120" cy="3382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91" name="Text 7"/>
          <p:cNvSpPr/>
          <p:nvPr/>
        </p:nvSpPr>
        <p:spPr>
          <a:xfrm>
            <a:off x="365760" y="4645080"/>
            <a:ext cx="84121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900" spc="-1" strike="noStrike">
                <a:solidFill>
                  <a:srgbClr val="f57f17"/>
                </a:solidFill>
                <a:latin typeface="Calibri"/>
                <a:ea typeface="Calibri"/>
              </a:rPr>
              <a:t>Cotton gap is dramatic: YOLOv11-Nano scores 0.751 vs only 0.230 on MH16 — MH16 requires far better localisation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Inference Speed — Latency (ms)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Speed vs accuracy trade-off for edge deployment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14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9" name="Chart 0"/>
          <p:cNvGraphicFramePr/>
          <p:nvPr/>
        </p:nvGraphicFramePr>
        <p:xfrm>
          <a:off x="365760" y="1097280"/>
          <a:ext cx="841212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00" name="Shape 7"/>
          <p:cNvSpPr/>
          <p:nvPr/>
        </p:nvSpPr>
        <p:spPr>
          <a:xfrm>
            <a:off x="320040" y="4480560"/>
            <a:ext cx="274284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Text 8"/>
          <p:cNvSpPr/>
          <p:nvPr/>
        </p:nvSpPr>
        <p:spPr>
          <a:xfrm>
            <a:off x="365760" y="44989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⚡ </a:t>
            </a:r>
            <a:r>
              <a:rPr b="1" lang="en-US" sz="1000" spc="-1" strike="noStrike">
                <a:solidFill>
                  <a:srgbClr val="2e7d32"/>
                </a:solidFill>
                <a:latin typeface="Calibri"/>
                <a:ea typeface="Calibri"/>
              </a:rPr>
              <a:t>Fastest  PP-YOLOE-S: 3.8ms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Shape 9"/>
          <p:cNvSpPr/>
          <p:nvPr/>
        </p:nvSpPr>
        <p:spPr>
          <a:xfrm>
            <a:off x="3264480" y="4480560"/>
            <a:ext cx="274284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Text 10"/>
          <p:cNvSpPr/>
          <p:nvPr/>
        </p:nvSpPr>
        <p:spPr>
          <a:xfrm>
            <a:off x="3310200" y="44989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62828"/>
                </a:solidFill>
                <a:latin typeface="Calibri"/>
                <a:ea typeface="Calibri"/>
              </a:rPr>
              <a:t>🐢 </a:t>
            </a:r>
            <a:r>
              <a:rPr b="1" lang="en-US" sz="1000" spc="-1" strike="noStrike">
                <a:solidFill>
                  <a:srgbClr val="c62828"/>
                </a:solidFill>
                <a:latin typeface="Calibri"/>
                <a:ea typeface="Calibri"/>
              </a:rPr>
              <a:t>Slowest  RT-DETR-Lite: ~49ms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1"/>
          <p:cNvSpPr/>
          <p:nvPr/>
        </p:nvSpPr>
        <p:spPr>
          <a:xfrm>
            <a:off x="6208920" y="4480560"/>
            <a:ext cx="2742840" cy="36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Text 12"/>
          <p:cNvSpPr/>
          <p:nvPr/>
        </p:nvSpPr>
        <p:spPr>
          <a:xfrm>
            <a:off x="6254640" y="4498920"/>
            <a:ext cx="26514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⚖️ </a:t>
            </a:r>
            <a:r>
              <a:rPr b="1" lang="en-US" sz="1000" spc="-1" strike="noStrike">
                <a:solidFill>
                  <a:srgbClr val="1565c0"/>
                </a:solidFill>
                <a:latin typeface="Calibri"/>
                <a:ea typeface="Calibri"/>
              </a:rPr>
              <a:t>Balanced  YOLOv8-Nano: 4ms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7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Key Findings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What the benchmark reveals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15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7"/>
          <p:cNvSpPr/>
          <p:nvPr/>
        </p:nvSpPr>
        <p:spPr>
          <a:xfrm>
            <a:off x="320040" y="123444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Shape 8"/>
          <p:cNvSpPr/>
          <p:nvPr/>
        </p:nvSpPr>
        <p:spPr>
          <a:xfrm>
            <a:off x="320040" y="1234440"/>
            <a:ext cx="63720" cy="1554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9"/>
          <p:cNvSpPr/>
          <p:nvPr/>
        </p:nvSpPr>
        <p:spPr>
          <a:xfrm>
            <a:off x="521280" y="13716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🥇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RT-DETR-Lite dominates MH16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Text 10"/>
          <p:cNvSpPr/>
          <p:nvPr/>
        </p:nvSpPr>
        <p:spPr>
          <a:xfrm>
            <a:off x="521280" y="1746360"/>
            <a:ext cx="37486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46e7a"/>
                </a:solidFill>
                <a:latin typeface="Calibri"/>
                <a:ea typeface="Calibri"/>
              </a:rPr>
              <a:t>Highest Precision (0.706), Recall (0.625), and mAP@0.5 (0.662) on the harder MH16 dataset. Transformer-based attention provides clear advantage on complex multi-class scenes.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Shape 11"/>
          <p:cNvSpPr/>
          <p:nvPr/>
        </p:nvSpPr>
        <p:spPr>
          <a:xfrm>
            <a:off x="4754880" y="123444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2"/>
          <p:cNvSpPr/>
          <p:nvPr/>
        </p:nvSpPr>
        <p:spPr>
          <a:xfrm>
            <a:off x="4754880" y="1234440"/>
            <a:ext cx="63720" cy="15541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3"/>
          <p:cNvSpPr/>
          <p:nvPr/>
        </p:nvSpPr>
        <p:spPr>
          <a:xfrm>
            <a:off x="4956120" y="13716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🌿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YOLOv11-Nano wins on Cotton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14"/>
          <p:cNvSpPr/>
          <p:nvPr/>
        </p:nvSpPr>
        <p:spPr>
          <a:xfrm>
            <a:off x="4956120" y="1746360"/>
            <a:ext cx="37486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46e7a"/>
                </a:solidFill>
                <a:latin typeface="Calibri"/>
                <a:ea typeface="Calibri"/>
              </a:rPr>
              <a:t>Best mAP@0.5 (0.833) and mAP@0.5:0.95 (0.751) on Cotton. Outperforms even RT-DETR on a domain-specific dataset, showing modern YOLO architectures generalise well.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Shape 15"/>
          <p:cNvSpPr/>
          <p:nvPr/>
        </p:nvSpPr>
        <p:spPr>
          <a:xfrm>
            <a:off x="320040" y="301752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16"/>
          <p:cNvSpPr/>
          <p:nvPr/>
        </p:nvSpPr>
        <p:spPr>
          <a:xfrm>
            <a:off x="320040" y="3017520"/>
            <a:ext cx="63720" cy="155412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7"/>
          <p:cNvSpPr/>
          <p:nvPr/>
        </p:nvSpPr>
        <p:spPr>
          <a:xfrm>
            <a:off x="521280" y="31546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⚡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Speed–Accuracy trade-off is real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18"/>
          <p:cNvSpPr/>
          <p:nvPr/>
        </p:nvSpPr>
        <p:spPr>
          <a:xfrm>
            <a:off x="521280" y="3529440"/>
            <a:ext cx="37486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46e7a"/>
                </a:solidFill>
                <a:latin typeface="Calibri"/>
                <a:ea typeface="Calibri"/>
              </a:rPr>
              <a:t>RT-DETR-Lite costs ~49ms vs 3.8–5.5ms for all YOLO/lightweight models. For real-time edge use, YOLOv7-Tiny or YOLOv11-Nano offer the best balance.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19"/>
          <p:cNvSpPr/>
          <p:nvPr/>
        </p:nvSpPr>
        <p:spPr>
          <a:xfrm>
            <a:off x="4754880" y="3017520"/>
            <a:ext cx="4160160" cy="1554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Shape 20"/>
          <p:cNvSpPr/>
          <p:nvPr/>
        </p:nvSpPr>
        <p:spPr>
          <a:xfrm>
            <a:off x="4754880" y="3017520"/>
            <a:ext cx="63720" cy="15541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21"/>
          <p:cNvSpPr/>
          <p:nvPr/>
        </p:nvSpPr>
        <p:spPr>
          <a:xfrm>
            <a:off x="4956120" y="315468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📉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MH16 is significantly harder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Text 22"/>
          <p:cNvSpPr/>
          <p:nvPr/>
        </p:nvSpPr>
        <p:spPr>
          <a:xfrm>
            <a:off x="4956120" y="3529440"/>
            <a:ext cx="3748680" cy="89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46e7a"/>
                </a:solidFill>
                <a:latin typeface="Calibri"/>
                <a:ea typeface="Calibri"/>
              </a:rPr>
              <a:t>All models score 30–40% lower mAP on MH16 vs Cotton. More training data, data augmentation, or deeper architectures may be needed for MH16 tasks.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Model Recommendations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Choose the right model for your deployment scenario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16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7"/>
          <p:cNvSpPr/>
          <p:nvPr/>
        </p:nvSpPr>
        <p:spPr>
          <a:xfrm>
            <a:off x="320040" y="1234440"/>
            <a:ext cx="850356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Shape 8"/>
          <p:cNvSpPr/>
          <p:nvPr/>
        </p:nvSpPr>
        <p:spPr>
          <a:xfrm>
            <a:off x="320040" y="1234440"/>
            <a:ext cx="63720" cy="804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9"/>
          <p:cNvSpPr/>
          <p:nvPr/>
        </p:nvSpPr>
        <p:spPr>
          <a:xfrm>
            <a:off x="502920" y="1481400"/>
            <a:ext cx="1188360" cy="255600"/>
          </a:xfrm>
          <a:prstGeom prst="roundRect">
            <a:avLst>
              <a:gd name="adj" fmla="val 17857"/>
            </a:avLst>
          </a:prstGeom>
          <a:solidFill>
            <a:srgbClr val="1565c0"/>
          </a:solidFill>
          <a:ln w="12700">
            <a:solidFill>
              <a:srgbClr val="1565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10"/>
          <p:cNvSpPr/>
          <p:nvPr/>
        </p:nvSpPr>
        <p:spPr>
          <a:xfrm>
            <a:off x="502920" y="148140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ACCURACY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11"/>
          <p:cNvSpPr/>
          <p:nvPr/>
        </p:nvSpPr>
        <p:spPr>
          <a:xfrm>
            <a:off x="1828800" y="13075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Highest Accuracy (any dataset)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12"/>
          <p:cNvSpPr/>
          <p:nvPr/>
        </p:nvSpPr>
        <p:spPr>
          <a:xfrm>
            <a:off x="1828800" y="15634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→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RT-DETR-Lite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Text 13"/>
          <p:cNvSpPr/>
          <p:nvPr/>
        </p:nvSpPr>
        <p:spPr>
          <a:xfrm>
            <a:off x="5577840" y="132588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Best on MH16; top-2 on Cotton. Use when compute budget allows.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4"/>
          <p:cNvSpPr/>
          <p:nvPr/>
        </p:nvSpPr>
        <p:spPr>
          <a:xfrm>
            <a:off x="320040" y="2148840"/>
            <a:ext cx="850356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Shape 15"/>
          <p:cNvSpPr/>
          <p:nvPr/>
        </p:nvSpPr>
        <p:spPr>
          <a:xfrm>
            <a:off x="320040" y="2148840"/>
            <a:ext cx="63720" cy="8042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Shape 16"/>
          <p:cNvSpPr/>
          <p:nvPr/>
        </p:nvSpPr>
        <p:spPr>
          <a:xfrm>
            <a:off x="502920" y="2395800"/>
            <a:ext cx="1188360" cy="255600"/>
          </a:xfrm>
          <a:prstGeom prst="roundRect">
            <a:avLst>
              <a:gd name="adj" fmla="val 17857"/>
            </a:avLst>
          </a:prstGeom>
          <a:solidFill>
            <a:srgbClr val="00695c"/>
          </a:solidFill>
          <a:ln w="12700">
            <a:solidFill>
              <a:srgbClr val="0069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Text 17"/>
          <p:cNvSpPr/>
          <p:nvPr/>
        </p:nvSpPr>
        <p:spPr>
          <a:xfrm>
            <a:off x="502920" y="239580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SPEED+ACC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18"/>
          <p:cNvSpPr/>
          <p:nvPr/>
        </p:nvSpPr>
        <p:spPr>
          <a:xfrm>
            <a:off x="1828800" y="22219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Edge / Real-Time Deployment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Text 19"/>
          <p:cNvSpPr/>
          <p:nvPr/>
        </p:nvSpPr>
        <p:spPr>
          <a:xfrm>
            <a:off x="1828800" y="24778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→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YOLOv11-Nano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Text 20"/>
          <p:cNvSpPr/>
          <p:nvPr/>
        </p:nvSpPr>
        <p:spPr>
          <a:xfrm>
            <a:off x="5577840" y="224028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#1 on Cotton, competitive on MH16, fast 4–5ms inference.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Shape 21"/>
          <p:cNvSpPr/>
          <p:nvPr/>
        </p:nvSpPr>
        <p:spPr>
          <a:xfrm>
            <a:off x="320040" y="3063240"/>
            <a:ext cx="850356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Shape 22"/>
          <p:cNvSpPr/>
          <p:nvPr/>
        </p:nvSpPr>
        <p:spPr>
          <a:xfrm>
            <a:off x="320040" y="3063240"/>
            <a:ext cx="63720" cy="8042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Shape 23"/>
          <p:cNvSpPr/>
          <p:nvPr/>
        </p:nvSpPr>
        <p:spPr>
          <a:xfrm>
            <a:off x="502920" y="3310200"/>
            <a:ext cx="1188360" cy="255600"/>
          </a:xfrm>
          <a:prstGeom prst="roundRect">
            <a:avLst>
              <a:gd name="adj" fmla="val 17857"/>
            </a:avLst>
          </a:prstGeom>
          <a:solidFill>
            <a:srgbClr val="f57f17"/>
          </a:solidFill>
          <a:ln w="12700">
            <a:solidFill>
              <a:srgbClr val="f57f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24"/>
          <p:cNvSpPr/>
          <p:nvPr/>
        </p:nvSpPr>
        <p:spPr>
          <a:xfrm>
            <a:off x="502920" y="331020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SPEED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 25"/>
          <p:cNvSpPr/>
          <p:nvPr/>
        </p:nvSpPr>
        <p:spPr>
          <a:xfrm>
            <a:off x="1828800" y="31363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Fastest Inference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Text 26"/>
          <p:cNvSpPr/>
          <p:nvPr/>
        </p:nvSpPr>
        <p:spPr>
          <a:xfrm>
            <a:off x="1828800" y="33922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→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PP-YOLOE-S / Edge-YOLO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Text 27"/>
          <p:cNvSpPr/>
          <p:nvPr/>
        </p:nvSpPr>
        <p:spPr>
          <a:xfrm>
            <a:off x="5577840" y="315468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3.8–3.9ms latency. Slightly lower accuracy but real-time capable.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Shape 28"/>
          <p:cNvSpPr/>
          <p:nvPr/>
        </p:nvSpPr>
        <p:spPr>
          <a:xfrm>
            <a:off x="320040" y="3977640"/>
            <a:ext cx="8503560" cy="804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29"/>
          <p:cNvSpPr/>
          <p:nvPr/>
        </p:nvSpPr>
        <p:spPr>
          <a:xfrm>
            <a:off x="320040" y="3977640"/>
            <a:ext cx="63720" cy="8042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Shape 30"/>
          <p:cNvSpPr/>
          <p:nvPr/>
        </p:nvSpPr>
        <p:spPr>
          <a:xfrm>
            <a:off x="502920" y="4224600"/>
            <a:ext cx="1188360" cy="255600"/>
          </a:xfrm>
          <a:prstGeom prst="roundRect">
            <a:avLst>
              <a:gd name="adj" fmla="val 17857"/>
            </a:avLst>
          </a:prstGeom>
          <a:solidFill>
            <a:srgbClr val="546e7a"/>
          </a:solidFill>
          <a:ln w="12700">
            <a:solidFill>
              <a:srgbClr val="546e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31"/>
          <p:cNvSpPr/>
          <p:nvPr/>
        </p:nvSpPr>
        <p:spPr>
          <a:xfrm>
            <a:off x="502920" y="4224600"/>
            <a:ext cx="1188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Calibri"/>
              </a:rPr>
              <a:t>PRECISION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32"/>
          <p:cNvSpPr/>
          <p:nvPr/>
        </p:nvSpPr>
        <p:spPr>
          <a:xfrm>
            <a:off x="1828800" y="405072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46e7a"/>
                </a:solidFill>
                <a:latin typeface="Calibri"/>
                <a:ea typeface="Calibri"/>
              </a:rPr>
              <a:t>Two-Stage Accuracy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33"/>
          <p:cNvSpPr/>
          <p:nvPr/>
        </p:nvSpPr>
        <p:spPr>
          <a:xfrm>
            <a:off x="1828800" y="430668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→  </a:t>
            </a:r>
            <a:r>
              <a:rPr b="1" lang="en-US" sz="1300" spc="-1" strike="noStrike">
                <a:solidFill>
                  <a:srgbClr val="0d1b2a"/>
                </a:solidFill>
                <a:latin typeface="Calibri"/>
                <a:ea typeface="Calibri"/>
              </a:rPr>
              <a:t>FasterRCNN-MobileNet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Text 34"/>
          <p:cNvSpPr/>
          <p:nvPr/>
        </p:nvSpPr>
        <p:spPr>
          <a:xfrm>
            <a:off x="5577840" y="4069080"/>
            <a:ext cx="30628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#3 on Cotton (mAP 0.820). Higher latency (11ms) but better localisation.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365760" y="91440"/>
            <a:ext cx="8412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  <a:ea typeface="Calibri"/>
              </a:rPr>
              <a:t>Future Work &amp; Research Directions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3"/>
          <p:cNvSpPr/>
          <p:nvPr/>
        </p:nvSpPr>
        <p:spPr>
          <a:xfrm>
            <a:off x="365760" y="6400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90caf9"/>
                </a:solidFill>
                <a:latin typeface="Calibri"/>
                <a:ea typeface="Calibri"/>
              </a:rPr>
              <a:t>Next steps to advance this benchmark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4"/>
          <p:cNvSpPr/>
          <p:nvPr/>
        </p:nvSpPr>
        <p:spPr>
          <a:xfrm>
            <a:off x="0" y="4956120"/>
            <a:ext cx="9143640" cy="182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5"/>
          <p:cNvSpPr/>
          <p:nvPr/>
        </p:nvSpPr>
        <p:spPr>
          <a:xfrm>
            <a:off x="274320" y="4965120"/>
            <a:ext cx="73148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Object Detection Benchmark Study | 2024 | 25 Epochs Training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8778240" y="4965120"/>
            <a:ext cx="319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90caf9"/>
                </a:solidFill>
                <a:latin typeface="Calibri"/>
                <a:ea typeface="Calibri"/>
              </a:rPr>
              <a:t>17</a:t>
            </a:r>
            <a:endParaRPr b="0" lang="en-IN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Shape 7"/>
          <p:cNvSpPr/>
          <p:nvPr/>
        </p:nvSpPr>
        <p:spPr>
          <a:xfrm>
            <a:off x="320040" y="123444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Shape 8"/>
          <p:cNvSpPr/>
          <p:nvPr/>
        </p:nvSpPr>
        <p:spPr>
          <a:xfrm>
            <a:off x="320040" y="1234440"/>
            <a:ext cx="502560" cy="1096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Text 9"/>
          <p:cNvSpPr/>
          <p:nvPr/>
        </p:nvSpPr>
        <p:spPr>
          <a:xfrm>
            <a:off x="338400" y="1554480"/>
            <a:ext cx="48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  <a:ea typeface="Calibri"/>
              </a:rPr>
              <a:t>01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Text 10"/>
          <p:cNvSpPr/>
          <p:nvPr/>
        </p:nvSpPr>
        <p:spPr>
          <a:xfrm>
            <a:off x="914400" y="13258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Extend Training Epochs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Text 11"/>
          <p:cNvSpPr/>
          <p:nvPr/>
        </p:nvSpPr>
        <p:spPr>
          <a:xfrm>
            <a:off x="914400" y="16185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Train beyond 25 epochs (50, 100) to observe convergence and further accuracy gains, especially for MH16.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Shape 12"/>
          <p:cNvSpPr/>
          <p:nvPr/>
        </p:nvSpPr>
        <p:spPr>
          <a:xfrm>
            <a:off x="4754880" y="123444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Shape 13"/>
          <p:cNvSpPr/>
          <p:nvPr/>
        </p:nvSpPr>
        <p:spPr>
          <a:xfrm>
            <a:off x="4754880" y="1234440"/>
            <a:ext cx="502560" cy="1096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Text 14"/>
          <p:cNvSpPr/>
          <p:nvPr/>
        </p:nvSpPr>
        <p:spPr>
          <a:xfrm>
            <a:off x="4773240" y="1554480"/>
            <a:ext cx="48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  <a:ea typeface="Calibri"/>
              </a:rPr>
              <a:t>02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Text 15"/>
          <p:cNvSpPr/>
          <p:nvPr/>
        </p:nvSpPr>
        <p:spPr>
          <a:xfrm>
            <a:off x="5349240" y="13258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Hyperparameter Optimisation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Text 16"/>
          <p:cNvSpPr/>
          <p:nvPr/>
        </p:nvSpPr>
        <p:spPr>
          <a:xfrm>
            <a:off x="5349240" y="16185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Use automated search (Optuna, Ray Tune) to find optimal LR, augmentation, and regularisation per model.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1" name="Shape 17"/>
          <p:cNvSpPr/>
          <p:nvPr/>
        </p:nvSpPr>
        <p:spPr>
          <a:xfrm>
            <a:off x="320040" y="249624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Shape 18"/>
          <p:cNvSpPr/>
          <p:nvPr/>
        </p:nvSpPr>
        <p:spPr>
          <a:xfrm>
            <a:off x="320040" y="2496240"/>
            <a:ext cx="502560" cy="1096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19"/>
          <p:cNvSpPr/>
          <p:nvPr/>
        </p:nvSpPr>
        <p:spPr>
          <a:xfrm>
            <a:off x="338400" y="2816280"/>
            <a:ext cx="48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  <a:ea typeface="Calibri"/>
              </a:rPr>
              <a:t>03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Text 20"/>
          <p:cNvSpPr/>
          <p:nvPr/>
        </p:nvSpPr>
        <p:spPr>
          <a:xfrm>
            <a:off x="914400" y="25876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Additional Datasets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5" name="Text 21"/>
          <p:cNvSpPr/>
          <p:nvPr/>
        </p:nvSpPr>
        <p:spPr>
          <a:xfrm>
            <a:off x="914400" y="28803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Evaluate on wheat disease, tomato leaf, or paddy datasets to assess cross-domain generalisation.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Shape 22"/>
          <p:cNvSpPr/>
          <p:nvPr/>
        </p:nvSpPr>
        <p:spPr>
          <a:xfrm>
            <a:off x="4754880" y="249624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23"/>
          <p:cNvSpPr/>
          <p:nvPr/>
        </p:nvSpPr>
        <p:spPr>
          <a:xfrm>
            <a:off x="4754880" y="2496240"/>
            <a:ext cx="502560" cy="1096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8" name="Text 24"/>
          <p:cNvSpPr/>
          <p:nvPr/>
        </p:nvSpPr>
        <p:spPr>
          <a:xfrm>
            <a:off x="4773240" y="2816280"/>
            <a:ext cx="48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  <a:ea typeface="Calibri"/>
              </a:rPr>
              <a:t>04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Text 25"/>
          <p:cNvSpPr/>
          <p:nvPr/>
        </p:nvSpPr>
        <p:spPr>
          <a:xfrm>
            <a:off x="5349240" y="25876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Quantisation 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Text 26"/>
          <p:cNvSpPr/>
          <p:nvPr/>
        </p:nvSpPr>
        <p:spPr>
          <a:xfrm>
            <a:off x="5349240" y="28803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Apply INT8 quantisation and weight pruning to further reduce inference latency on edge hardware.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Shape 27"/>
          <p:cNvSpPr/>
          <p:nvPr/>
        </p:nvSpPr>
        <p:spPr>
          <a:xfrm>
            <a:off x="320040" y="375804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Shape 28"/>
          <p:cNvSpPr/>
          <p:nvPr/>
        </p:nvSpPr>
        <p:spPr>
          <a:xfrm>
            <a:off x="320040" y="3758040"/>
            <a:ext cx="502560" cy="1096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29"/>
          <p:cNvSpPr/>
          <p:nvPr/>
        </p:nvSpPr>
        <p:spPr>
          <a:xfrm>
            <a:off x="338400" y="4078080"/>
            <a:ext cx="48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  <a:ea typeface="Calibri"/>
              </a:rPr>
              <a:t>05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" name="Text 30"/>
          <p:cNvSpPr/>
          <p:nvPr/>
        </p:nvSpPr>
        <p:spPr>
          <a:xfrm>
            <a:off x="914400" y="38494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Ensemble Methods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Text 31"/>
          <p:cNvSpPr/>
          <p:nvPr/>
        </p:nvSpPr>
        <p:spPr>
          <a:xfrm>
            <a:off x="914400" y="41421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Investigate WBF (Weighted Box Fusion) ensembles of top-3 models to push mAP ceilings higher.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6" name="Shape 32"/>
          <p:cNvSpPr/>
          <p:nvPr/>
        </p:nvSpPr>
        <p:spPr>
          <a:xfrm>
            <a:off x="4754880" y="3758040"/>
            <a:ext cx="4160160" cy="1096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round/>
          </a:ln>
          <a:effectLst>
            <a:outerShdw algn="bl" blurRad="63360" dir="8100000" dist="12218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7" name="Shape 33"/>
          <p:cNvSpPr/>
          <p:nvPr/>
        </p:nvSpPr>
        <p:spPr>
          <a:xfrm>
            <a:off x="4754880" y="3758040"/>
            <a:ext cx="502560" cy="1096920"/>
          </a:xfrm>
          <a:prstGeom prst="rect">
            <a:avLst/>
          </a:prstGeom>
          <a:solidFill>
            <a:srgbClr val="e8f4fd"/>
          </a:solidFill>
          <a:ln w="12700">
            <a:solidFill>
              <a:srgbClr val="e8f4f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Text 34"/>
          <p:cNvSpPr/>
          <p:nvPr/>
        </p:nvSpPr>
        <p:spPr>
          <a:xfrm>
            <a:off x="4773240" y="4078080"/>
            <a:ext cx="484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565c0"/>
                </a:solidFill>
                <a:latin typeface="Calibri"/>
                <a:ea typeface="Calibri"/>
              </a:rPr>
              <a:t>06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35"/>
          <p:cNvSpPr/>
          <p:nvPr/>
        </p:nvSpPr>
        <p:spPr>
          <a:xfrm>
            <a:off x="5349240" y="38494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0d1b2a"/>
                </a:solidFill>
                <a:latin typeface="Calibri"/>
                <a:ea typeface="Calibri"/>
              </a:rPr>
              <a:t>Hardware-Specific Benchmarks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0" name="Text 36"/>
          <p:cNvSpPr/>
          <p:nvPr/>
        </p:nvSpPr>
        <p:spPr>
          <a:xfrm>
            <a:off x="5349240" y="4142160"/>
            <a:ext cx="3428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46e7a"/>
                </a:solidFill>
                <a:latin typeface="Calibri"/>
                <a:ea typeface="Calibri"/>
              </a:rPr>
              <a:t>Profile on Jetson Nano, Raspberry Pi 4, and OAK-D to get real-world embedded latency metrics.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Shape 0"/>
          <p:cNvSpPr/>
          <p:nvPr/>
        </p:nvSpPr>
        <p:spPr>
          <a:xfrm>
            <a:off x="0" y="0"/>
            <a:ext cx="9143640" cy="63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1"/>
          <p:cNvSpPr/>
          <p:nvPr/>
        </p:nvSpPr>
        <p:spPr>
          <a:xfrm>
            <a:off x="0" y="5079600"/>
            <a:ext cx="9143640" cy="63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2"/>
          <p:cNvSpPr/>
          <p:nvPr/>
        </p:nvSpPr>
        <p:spPr>
          <a:xfrm>
            <a:off x="548640" y="3200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  <a:ea typeface="Calibri"/>
              </a:rPr>
              <a:t>Conclusion</a:t>
            </a:r>
            <a:endParaRPr b="0" lang="en-IN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Text 3"/>
          <p:cNvSpPr/>
          <p:nvPr/>
        </p:nvSpPr>
        <p:spPr>
          <a:xfrm>
            <a:off x="548640" y="93276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90caf9"/>
                </a:solidFill>
                <a:latin typeface="Calibri"/>
                <a:ea typeface="Calibri"/>
              </a:rPr>
              <a:t>Key Takeaways from the 25-Epoch Benchmark</a:t>
            </a:r>
            <a:endParaRPr b="0" lang="en-IN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4"/>
          <p:cNvSpPr/>
          <p:nvPr/>
        </p:nvSpPr>
        <p:spPr>
          <a:xfrm>
            <a:off x="457200" y="1481400"/>
            <a:ext cx="255600" cy="2556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5"/>
          <p:cNvSpPr/>
          <p:nvPr/>
        </p:nvSpPr>
        <p:spPr>
          <a:xfrm>
            <a:off x="457200" y="14814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6"/>
          <p:cNvSpPr/>
          <p:nvPr/>
        </p:nvSpPr>
        <p:spPr>
          <a:xfrm>
            <a:off x="868680" y="1481400"/>
            <a:ext cx="7909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10 lightweight object detectors were rigorously evaluated on 2 agricultural datasets under a consistent 25-epoch training protocol.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7"/>
          <p:cNvSpPr/>
          <p:nvPr/>
        </p:nvSpPr>
        <p:spPr>
          <a:xfrm>
            <a:off x="457200" y="2139840"/>
            <a:ext cx="255600" cy="2556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8"/>
          <p:cNvSpPr/>
          <p:nvPr/>
        </p:nvSpPr>
        <p:spPr>
          <a:xfrm>
            <a:off x="457200" y="213984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9"/>
          <p:cNvSpPr/>
          <p:nvPr/>
        </p:nvSpPr>
        <p:spPr>
          <a:xfrm>
            <a:off x="868680" y="2139840"/>
            <a:ext cx="7909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RT-DETR-Lite is the accuracy champion on the challenging MH16 dataset — transformer attention gives it an edge on complex scenes.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Shape 10"/>
          <p:cNvSpPr/>
          <p:nvPr/>
        </p:nvSpPr>
        <p:spPr>
          <a:xfrm>
            <a:off x="457200" y="2797920"/>
            <a:ext cx="255600" cy="2556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 11"/>
          <p:cNvSpPr/>
          <p:nvPr/>
        </p:nvSpPr>
        <p:spPr>
          <a:xfrm>
            <a:off x="457200" y="27979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12"/>
          <p:cNvSpPr/>
          <p:nvPr/>
        </p:nvSpPr>
        <p:spPr>
          <a:xfrm>
            <a:off x="868680" y="2797920"/>
            <a:ext cx="7909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YOLOv11-Nano is the overall recommendation — top accuracy on Cotton, competitive on MH16, with fast 4–5ms inference.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Shape 13"/>
          <p:cNvSpPr/>
          <p:nvPr/>
        </p:nvSpPr>
        <p:spPr>
          <a:xfrm>
            <a:off x="457200" y="3456360"/>
            <a:ext cx="255600" cy="2556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14"/>
          <p:cNvSpPr/>
          <p:nvPr/>
        </p:nvSpPr>
        <p:spPr>
          <a:xfrm>
            <a:off x="457200" y="34563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15"/>
          <p:cNvSpPr/>
          <p:nvPr/>
        </p:nvSpPr>
        <p:spPr>
          <a:xfrm>
            <a:off x="868680" y="3456360"/>
            <a:ext cx="7909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Dataset difficulty matters more than architecture alone — all models score ~30% higher on Cotton vs MH16.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16"/>
          <p:cNvSpPr/>
          <p:nvPr/>
        </p:nvSpPr>
        <p:spPr>
          <a:xfrm>
            <a:off x="457200" y="4114800"/>
            <a:ext cx="255600" cy="25560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17"/>
          <p:cNvSpPr/>
          <p:nvPr/>
        </p:nvSpPr>
        <p:spPr>
          <a:xfrm>
            <a:off x="457200" y="4114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IN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18"/>
          <p:cNvSpPr/>
          <p:nvPr/>
        </p:nvSpPr>
        <p:spPr>
          <a:xfrm>
            <a:off x="868680" y="4114800"/>
            <a:ext cx="79092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fd8dc"/>
                </a:solidFill>
                <a:latin typeface="Calibri"/>
                <a:ea typeface="Calibri"/>
              </a:rPr>
              <a:t>For strict edge deployment, PP-YOLOE-S and Edge-YOLO offer the lowest latency (3.8–3.9ms) with acceptable accuracy.</a:t>
            </a:r>
            <a:endParaRPr b="0" lang="en-IN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2026-03-07T20:14:44Z</dcterms:created>
  <dc:creator>PptxGenJS</dc:creator>
  <dc:description/>
  <dc:language>en-IN</dc:language>
  <cp:lastModifiedBy/>
  <dcterms:modified xsi:type="dcterms:W3CDTF">2026-03-10T17:48:15Z</dcterms:modified>
  <cp:revision>2</cp:revision>
  <dc:subject>PptxGenJS Presentation</dc:subject>
  <dc:title>Object Detection Model Performance Comparison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